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jp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7500"/>
            <a:ext cx="12192000" cy="381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14589" y="841028"/>
            <a:ext cx="45958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252" kern="0" dirty="0">
                <a:solidFill>
                  <a:srgbClr val="FFD700"/>
                </a:solidFill>
                <a:highlight>
                  <a:srgbClr val="8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 PRESENTATION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952500" y="1336328"/>
            <a:ext cx="9525000" cy="211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940"/>
              </a:lnSpc>
              <a:buNone/>
            </a:pPr>
            <a:r>
              <a:rPr lang="en-US" sz="5400" b="1" spc="-10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</a:t>
            </a:r>
            <a:pPr indent="0" marL="0">
              <a:lnSpc>
                <a:spcPts val="5940"/>
              </a:lnSpc>
              <a:buNone/>
            </a:pPr>
            <a:r>
              <a:rPr lang="en-US" sz="5400" b="1" spc="-10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</a:t>
            </a:r>
            <a:pPr indent="0" marL="0">
              <a:lnSpc>
                <a:spcPts val="5940"/>
              </a:lnSpc>
              <a:buNone/>
            </a:pPr>
            <a:r>
              <a:rPr lang="en-US" sz="5400" b="1" spc="-10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Detection</a:t>
            </a:r>
            <a:pPr indent="0" marL="0">
              <a:lnSpc>
                <a:spcPts val="5940"/>
              </a:lnSpc>
              <a:buNone/>
            </a:pPr>
            <a:r>
              <a:rPr lang="en-US" sz="5400" b="1" spc="-10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3600"/>
              </a:lnSpc>
              <a:buNone/>
            </a:pPr>
            <a:r>
              <a:rPr lang="en-US" sz="3600" b="1" spc="-10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IoT Sensor Streams</a:t>
            </a:r>
            <a:endParaRPr lang="en-US" sz="5400" dirty="0"/>
          </a:p>
        </p:txBody>
      </p:sp>
      <p:sp>
        <p:nvSpPr>
          <p:cNvPr id="7" name="Text 2"/>
          <p:cNvSpPr/>
          <p:nvPr/>
        </p:nvSpPr>
        <p:spPr>
          <a:xfrm>
            <a:off x="952500" y="3835598"/>
            <a:ext cx="666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scalable production-grade system leveraging Azure Event Hubs, Machine Learning, and MLOps for industrial infrastructure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4" y="333723"/>
            <a:ext cx="667445" cy="500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84" y="1608517"/>
            <a:ext cx="525613" cy="5455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73" y="1742006"/>
            <a:ext cx="258635" cy="26697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84" y="2354309"/>
            <a:ext cx="5395096" cy="20690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18" y="2604601"/>
            <a:ext cx="133489" cy="1668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818" y="3205302"/>
            <a:ext cx="133489" cy="16686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818" y="3806002"/>
            <a:ext cx="133489" cy="16686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6147" y="1608517"/>
            <a:ext cx="492241" cy="54555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636" y="1742006"/>
            <a:ext cx="225262" cy="26697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6147" y="2354309"/>
            <a:ext cx="5395225" cy="206908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380" y="2604601"/>
            <a:ext cx="133489" cy="16686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6380" y="3205302"/>
            <a:ext cx="133489" cy="16686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6380" y="3806002"/>
            <a:ext cx="116803" cy="1668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0584" y="5156015"/>
            <a:ext cx="3596774" cy="100116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69588" y="5322876"/>
            <a:ext cx="258635" cy="26697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97591" y="5156015"/>
            <a:ext cx="3596774" cy="100116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83282" y="5322876"/>
            <a:ext cx="225263" cy="26697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4599" y="5156015"/>
            <a:ext cx="3596773" cy="100116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92803" y="5322876"/>
            <a:ext cx="200234" cy="26697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0584" y="6157183"/>
            <a:ext cx="11190789" cy="367094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00584" y="517270"/>
            <a:ext cx="18164556" cy="4571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MOTIVATION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500584" y="1041189"/>
            <a:ext cx="16703016" cy="2336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9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Industrial Stability through Intelligent IoT Monitoring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59686" y="1747742"/>
            <a:ext cx="6263640" cy="2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2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Necessity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934423" y="2554543"/>
            <a:ext cx="4761023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growth of </a:t>
            </a:r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Infrastructure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IoT-enabled manufacturing lines.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934423" y="3155243"/>
            <a:ext cx="4761023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generation of </a:t>
            </a:r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high-velocity sensor data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(temperature, vibration, pressure).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934423" y="3755944"/>
            <a:ext cx="4761023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need to detect deviations from normal operating patterns </a:t>
            </a:r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immediately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6921877" y="1747742"/>
            <a:ext cx="4697730" cy="2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2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Motivation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6729986" y="2554543"/>
            <a:ext cx="4761153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Mitigation: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Unplanned downtime costs industries millions in lost productivity.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729986" y="3155243"/>
            <a:ext cx="4761153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Scalability: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Moving beyond manual thresholds to automated, production-scale AI models.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6713300" y="3755944"/>
            <a:ext cx="4777839" cy="46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Response:</a:t>
            </a:r>
            <a:pPr algn="l" indent="0" marL="0">
              <a:lnSpc>
                <a:spcPts val="1839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Triggering alerts and dashboard updates the moment an anomaly is detected.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667445" y="5656599"/>
            <a:ext cx="3263051" cy="1668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419879" y="5856832"/>
            <a:ext cx="3758184" cy="13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1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Event Hubs / Kafka</a:t>
            </a:r>
            <a:endParaRPr lang="en-US" sz="900" dirty="0"/>
          </a:p>
        </p:txBody>
      </p:sp>
      <p:sp>
        <p:nvSpPr>
          <p:cNvPr id="35" name="Text 12"/>
          <p:cNvSpPr/>
          <p:nvPr/>
        </p:nvSpPr>
        <p:spPr>
          <a:xfrm>
            <a:off x="4464453" y="5656599"/>
            <a:ext cx="3263051" cy="1668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INFERENCE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3982000" y="5856832"/>
            <a:ext cx="4227957" cy="13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1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Anomaly Detection</a:t>
            </a:r>
            <a:endParaRPr lang="en-US" sz="900" dirty="0"/>
          </a:p>
        </p:txBody>
      </p:sp>
      <p:sp>
        <p:nvSpPr>
          <p:cNvPr id="37" name="Text 14"/>
          <p:cNvSpPr/>
          <p:nvPr/>
        </p:nvSpPr>
        <p:spPr>
          <a:xfrm>
            <a:off x="8157439" y="5656599"/>
            <a:ext cx="3471093" cy="1668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INSIGHTS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8013894" y="5856832"/>
            <a:ext cx="3758184" cy="13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1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&amp; Live Dashboards</a:t>
            </a:r>
            <a:endParaRPr lang="en-US" sz="900" dirty="0"/>
          </a:p>
        </p:txBody>
      </p:sp>
      <p:sp>
        <p:nvSpPr>
          <p:cNvPr id="39" name="Text 16"/>
          <p:cNvSpPr/>
          <p:nvPr/>
        </p:nvSpPr>
        <p:spPr>
          <a:xfrm>
            <a:off x="500584" y="6357416"/>
            <a:ext cx="5115295" cy="1668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4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Anomaly Detection System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9997730" y="6374102"/>
            <a:ext cx="4854321" cy="13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1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7620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5450"/>
            <a:ext cx="419100" cy="495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0975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43150"/>
            <a:ext cx="11049000" cy="12930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40969"/>
            <a:ext cx="3530501" cy="2400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169569"/>
            <a:ext cx="447675" cy="495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83869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874419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5331619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5788819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0601" y="3940969"/>
            <a:ext cx="3530650" cy="2400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9201" y="4169569"/>
            <a:ext cx="400050" cy="495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501" y="4283869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9201" y="4874419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9201" y="5331619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9201" y="5788819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9850" y="3940969"/>
            <a:ext cx="3530501" cy="2400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8450" y="4169569"/>
            <a:ext cx="400050" cy="495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2750" y="4283869"/>
            <a:ext cx="171450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4874419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8450" y="5331619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8450" y="5788819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6341269"/>
            <a:ext cx="11049000" cy="3429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571500" y="59055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FORMULATION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571500" y="112395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Problem Statement &amp; Key Challenges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143000" y="1790700"/>
            <a:ext cx="740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Problem Statement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800100" y="2571750"/>
            <a:ext cx="105918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Identifying deviations in high-velocity IoT sensor streams where normal operational patterns are dynamic, multi-dimensional, and subject to environmental variations. Traditional threshold-based approaches fail to capture complex temporal dependencies and contextual anomalies in streaming data with sub-second latency requirements.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400175" y="4283869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Noise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990600" y="48172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measurement errors and environmental interference</a:t>
            </a:r>
            <a:endParaRPr lang="en-US" sz="1050" dirty="0"/>
          </a:p>
        </p:txBody>
      </p:sp>
      <p:sp>
        <p:nvSpPr>
          <p:cNvPr id="32" name="Text 6"/>
          <p:cNvSpPr/>
          <p:nvPr/>
        </p:nvSpPr>
        <p:spPr>
          <a:xfrm>
            <a:off x="990600" y="52744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transmission artifacts and packet loss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990600" y="57316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Distinguishing true anomalies from noise-induced variations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5111651" y="4283869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Drift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4749701" y="4817269"/>
            <a:ext cx="2882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Evolving operational patterns due to seasonal changes</a:t>
            </a:r>
            <a:endParaRPr lang="en-US" sz="1050" dirty="0"/>
          </a:p>
        </p:txBody>
      </p:sp>
      <p:sp>
        <p:nvSpPr>
          <p:cNvPr id="36" name="Text 10"/>
          <p:cNvSpPr/>
          <p:nvPr/>
        </p:nvSpPr>
        <p:spPr>
          <a:xfrm>
            <a:off x="4749701" y="5274469"/>
            <a:ext cx="2882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aging and maintenance-induced shifts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4749701" y="5731669"/>
            <a:ext cx="2882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degradation without continuous adaptation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8870900" y="4283869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Requirements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8508950" y="48172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detection latency for critical systems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8508950" y="52744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thousands of concurrent sensor streams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8508950" y="5731669"/>
            <a:ext cx="2882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Memory-efficient algorithms for continuous operation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571500" y="6493669"/>
            <a:ext cx="448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Anomaly Detection System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10067925" y="6512719"/>
            <a:ext cx="393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Formulation - Part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7620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5450"/>
            <a:ext cx="5372100" cy="22621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924050"/>
            <a:ext cx="419100" cy="495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0383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119438"/>
            <a:ext cx="49149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695450"/>
            <a:ext cx="5372100" cy="22621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924050"/>
            <a:ext cx="419100" cy="495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20383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119438"/>
            <a:ext cx="49149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262438"/>
            <a:ext cx="419100" cy="495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376738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910138"/>
            <a:ext cx="3530501" cy="1066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30601" y="4910138"/>
            <a:ext cx="3530650" cy="1066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9850" y="4910138"/>
            <a:ext cx="3530501" cy="1066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281738"/>
            <a:ext cx="11049000" cy="1943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6557963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6929438"/>
            <a:ext cx="10591800" cy="1066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8224837"/>
            <a:ext cx="1104900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59055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FORMULATION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571500" y="112395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Objectives &amp; Performance Metrics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371600" y="203835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False Alarms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800100" y="2571750"/>
            <a:ext cx="49149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 precision ≥ 85% to reduce operational disruption from false positives while maintaining system reliability.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914400" y="3119438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= TP / (TP + FP)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P ≥ 0.85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7048500" y="2038350"/>
            <a:ext cx="594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Detection Sensitivity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6477000" y="2571750"/>
            <a:ext cx="49149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 recall ≥ 90% to ensure critical anomalies are not missed, preventing system failures.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591300" y="3119438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= TP / (TP + FN)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R ≥ 0.90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1143000" y="4357688"/>
            <a:ext cx="493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System Latency</a:t>
            </a:r>
            <a:endParaRPr lang="en-US" sz="1800" dirty="0"/>
          </a:p>
        </p:txBody>
      </p:sp>
      <p:sp>
        <p:nvSpPr>
          <p:cNvPr id="30" name="Text 9"/>
          <p:cNvSpPr/>
          <p:nvPr/>
        </p:nvSpPr>
        <p:spPr>
          <a:xfrm>
            <a:off x="723900" y="5062538"/>
            <a:ext cx="3225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500ms</a:t>
            </a:r>
            <a:endParaRPr lang="en-US" sz="1800" dirty="0"/>
          </a:p>
        </p:txBody>
      </p:sp>
      <p:sp>
        <p:nvSpPr>
          <p:cNvPr id="31" name="Text 10"/>
          <p:cNvSpPr/>
          <p:nvPr/>
        </p:nvSpPr>
        <p:spPr>
          <a:xfrm>
            <a:off x="723900" y="5443538"/>
            <a:ext cx="3225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Detection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723900" y="5672138"/>
            <a:ext cx="3225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 to alert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4483001" y="5062538"/>
            <a:ext cx="3225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100ms</a:t>
            </a:r>
            <a:endParaRPr lang="en-US" sz="1800" dirty="0"/>
          </a:p>
        </p:txBody>
      </p:sp>
      <p:sp>
        <p:nvSpPr>
          <p:cNvPr id="34" name="Text 13"/>
          <p:cNvSpPr/>
          <p:nvPr/>
        </p:nvSpPr>
        <p:spPr>
          <a:xfrm>
            <a:off x="4483001" y="5443538"/>
            <a:ext cx="322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Inference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4483001" y="5672138"/>
            <a:ext cx="322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sensor reading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8242250" y="5062538"/>
            <a:ext cx="3225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</a:t>
            </a:r>
            <a:endParaRPr lang="en-US" sz="1800" dirty="0"/>
          </a:p>
        </p:txBody>
      </p:sp>
      <p:sp>
        <p:nvSpPr>
          <p:cNvPr id="37" name="Text 16"/>
          <p:cNvSpPr/>
          <p:nvPr/>
        </p:nvSpPr>
        <p:spPr>
          <a:xfrm>
            <a:off x="8242250" y="5443538"/>
            <a:ext cx="3225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Availability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8242250" y="5672138"/>
            <a:ext cx="3225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operation</a:t>
            </a:r>
            <a:endParaRPr lang="en-US" sz="900" dirty="0"/>
          </a:p>
        </p:txBody>
      </p:sp>
      <p:sp>
        <p:nvSpPr>
          <p:cNvPr id="39" name="Text 18"/>
          <p:cNvSpPr/>
          <p:nvPr/>
        </p:nvSpPr>
        <p:spPr>
          <a:xfrm>
            <a:off x="1047750" y="6510338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Objective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952500" y="7081838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 F1-Score while constraining latency: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952500" y="734853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2 × (Precision × Recall) / (Precision + Recall)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952500" y="7653337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 Latency ≤ 500ms, Availability ≥ 99.9%</a:t>
            </a:r>
            <a:endParaRPr lang="en-US" sz="1050" dirty="0"/>
          </a:p>
        </p:txBody>
      </p:sp>
      <p:sp>
        <p:nvSpPr>
          <p:cNvPr id="43" name="Text 22"/>
          <p:cNvSpPr/>
          <p:nvPr/>
        </p:nvSpPr>
        <p:spPr>
          <a:xfrm>
            <a:off x="571500" y="8377238"/>
            <a:ext cx="448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Anomaly Detection System</a:t>
            </a:r>
            <a:endParaRPr lang="en-US" sz="1050" dirty="0"/>
          </a:p>
        </p:txBody>
      </p:sp>
      <p:sp>
        <p:nvSpPr>
          <p:cNvPr id="44" name="Text 23"/>
          <p:cNvSpPr/>
          <p:nvPr/>
        </p:nvSpPr>
        <p:spPr>
          <a:xfrm>
            <a:off x="10048875" y="8396288"/>
            <a:ext cx="393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Formulation - Part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4" y="1355481"/>
            <a:ext cx="937846" cy="4396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54" y="1948962"/>
            <a:ext cx="5363308" cy="17657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15" y="2183423"/>
            <a:ext cx="534865" cy="57733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46" y="2300654"/>
            <a:ext cx="300404" cy="34287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2539" y="1948962"/>
            <a:ext cx="5363308" cy="176578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183423"/>
            <a:ext cx="578827" cy="57733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4231" y="2300654"/>
            <a:ext cx="344366" cy="34287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154" y="4007827"/>
            <a:ext cx="5363308" cy="176578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615" y="4242288"/>
            <a:ext cx="534865" cy="57733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846" y="4359519"/>
            <a:ext cx="300404" cy="34287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2539" y="4007827"/>
            <a:ext cx="5363308" cy="176578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242288"/>
            <a:ext cx="622789" cy="57733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4231" y="4359519"/>
            <a:ext cx="388327" cy="34287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24846" y="6154616"/>
            <a:ext cx="87924" cy="8792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71385" y="6154616"/>
            <a:ext cx="87923" cy="8792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17924" y="6154616"/>
            <a:ext cx="87923" cy="87923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86154" y="586154"/>
            <a:ext cx="20505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4500" b="1" spc="-117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Project </a:t>
            </a:r>
            <a:pPr indent="0" marL="0">
              <a:lnSpc>
                <a:spcPts val="4500"/>
              </a:lnSpc>
              <a:buNone/>
            </a:pPr>
            <a:r>
              <a:rPr lang="en-US" sz="4500" b="1" spc="-1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4500" dirty="0"/>
          </a:p>
        </p:txBody>
      </p:sp>
      <p:sp>
        <p:nvSpPr>
          <p:cNvPr id="20" name="Text 1"/>
          <p:cNvSpPr/>
          <p:nvPr/>
        </p:nvSpPr>
        <p:spPr>
          <a:xfrm>
            <a:off x="1699846" y="1274885"/>
            <a:ext cx="14859000" cy="2051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5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goals for the IoT Anomaly Detection System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531327" y="2183423"/>
            <a:ext cx="677570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1531327" y="2476500"/>
            <a:ext cx="4183673" cy="62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low-latency algorithms to identify anomalies in streaming IoT data as they occur, minimizing response time.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231673" y="2183423"/>
            <a:ext cx="784555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Scalability</a:t>
            </a:r>
            <a:endParaRPr lang="en-US" sz="1800" dirty="0"/>
          </a:p>
        </p:txBody>
      </p:sp>
      <p:sp>
        <p:nvSpPr>
          <p:cNvPr id="24" name="Text 5"/>
          <p:cNvSpPr/>
          <p:nvPr/>
        </p:nvSpPr>
        <p:spPr>
          <a:xfrm>
            <a:off x="7231673" y="2476500"/>
            <a:ext cx="4139712" cy="62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a system capable of scaling across thousands of sensor streams using high-throughput cloud infrastructure.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531327" y="4242288"/>
            <a:ext cx="641908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Alerting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1531327" y="4535366"/>
            <a:ext cx="4183673" cy="62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automated notification workflows via Azure Monitor and Logic Apps to trigger immediate operational reactions.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275635" y="4242288"/>
            <a:ext cx="534924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Dashboards</a:t>
            </a:r>
            <a:endParaRPr lang="en-US" sz="1800" dirty="0"/>
          </a:p>
        </p:txBody>
      </p:sp>
      <p:sp>
        <p:nvSpPr>
          <p:cNvPr id="28" name="Text 9"/>
          <p:cNvSpPr/>
          <p:nvPr/>
        </p:nvSpPr>
        <p:spPr>
          <a:xfrm>
            <a:off x="7275635" y="4535366"/>
            <a:ext cx="4095750" cy="62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stakeholders with real-time visibility through dynamic Power BI or Grafana dashboards for continuous oversight.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8983724" y="6125308"/>
            <a:ext cx="4784598" cy="14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4"/>
              </a:lnSpc>
              <a:buNone/>
            </a:pPr>
            <a:r>
              <a:rPr lang="en-US" sz="1050" b="1" spc="109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CRITICAL SYSTEM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6" y="1412491"/>
            <a:ext cx="646981" cy="3234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36" y="1768331"/>
            <a:ext cx="3611090" cy="360161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28" y="2027123"/>
            <a:ext cx="283054" cy="28558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28" y="4704766"/>
            <a:ext cx="113222" cy="13331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28" y="4963558"/>
            <a:ext cx="113222" cy="13331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0420" y="1768331"/>
            <a:ext cx="3611089" cy="360161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9212" y="2027123"/>
            <a:ext cx="355840" cy="28558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4440" y="2811588"/>
            <a:ext cx="1382923" cy="77637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9212" y="4658264"/>
            <a:ext cx="3093505" cy="1940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9212" y="4917057"/>
            <a:ext cx="3093505" cy="1940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5604" y="1768331"/>
            <a:ext cx="3611089" cy="360161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4396" y="2027123"/>
            <a:ext cx="250705" cy="28558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4396" y="4561217"/>
            <a:ext cx="3093505" cy="54993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236" y="5693434"/>
            <a:ext cx="11221458" cy="67933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9330" y="5887528"/>
            <a:ext cx="1245439" cy="29114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18863" y="5956902"/>
            <a:ext cx="113222" cy="15239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7189" y="5956902"/>
            <a:ext cx="113222" cy="15239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1622" y="5956902"/>
            <a:ext cx="153658" cy="152394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85236" y="485236"/>
            <a:ext cx="11221458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b="1" spc="19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MILESTONES</a:t>
            </a:r>
            <a:endParaRPr lang="en-US" sz="1050" dirty="0"/>
          </a:p>
        </p:txBody>
      </p:sp>
      <p:sp>
        <p:nvSpPr>
          <p:cNvPr id="22" name="Text 1"/>
          <p:cNvSpPr/>
          <p:nvPr/>
        </p:nvSpPr>
        <p:spPr>
          <a:xfrm>
            <a:off x="485236" y="711679"/>
            <a:ext cx="26277809" cy="57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1: Data Collection &amp; Ingestion</a:t>
            </a:r>
            <a:endParaRPr lang="en-US" sz="3600" dirty="0"/>
          </a:p>
        </p:txBody>
      </p:sp>
      <p:sp>
        <p:nvSpPr>
          <p:cNvPr id="23" name="Text 2"/>
          <p:cNvSpPr/>
          <p:nvPr/>
        </p:nvSpPr>
        <p:spPr>
          <a:xfrm>
            <a:off x="744028" y="2455748"/>
            <a:ext cx="4218101" cy="2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3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 Sources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744028" y="2811588"/>
            <a:ext cx="3093505" cy="32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of multi-source time-series streams from industrial sensors and smart infrastructure.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921948" y="4690613"/>
            <a:ext cx="4334767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&amp; Vibration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921948" y="4949405"/>
            <a:ext cx="3957831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&amp; Flow Rates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4549212" y="2455748"/>
            <a:ext cx="5025823" cy="2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3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Ingestion Layer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4549212" y="4658264"/>
            <a:ext cx="2864905" cy="19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19"/>
              </a:lnSpc>
              <a:buNone/>
            </a:pPr>
            <a:r>
              <a:rPr lang="en-US" sz="9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EVENT HUBS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4549212" y="4917057"/>
            <a:ext cx="2864905" cy="19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19"/>
              </a:lnSpc>
              <a:buNone/>
            </a:pPr>
            <a:r>
              <a:rPr lang="en-US" sz="9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8354396" y="2455748"/>
            <a:ext cx="3948861" cy="2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3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Raw Storage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8354396" y="2811588"/>
            <a:ext cx="3093505" cy="323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 of raw telemetry data for long-term analysis and historical retraining.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8483793" y="4690613"/>
            <a:ext cx="3069329" cy="12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9"/>
              </a:lnSpc>
              <a:buNone/>
            </a:pPr>
            <a:r>
              <a:rPr lang="en-US" sz="900" b="1" spc="-4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DESTINATION: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8483793" y="4820009"/>
            <a:ext cx="6722030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Data Lake Gen2 / Blob Storage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808726" y="5887528"/>
            <a:ext cx="1708125" cy="29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2296783" y="5952226"/>
            <a:ext cx="3203958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Dataset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3995108" y="5952226"/>
            <a:ext cx="4900171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Pipeline Doc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6299979" y="5952226"/>
            <a:ext cx="3580894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Patterns Report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01" y="480701"/>
            <a:ext cx="11230501" cy="74558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01" y="1610849"/>
            <a:ext cx="3572585" cy="268053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75" y="1867223"/>
            <a:ext cx="384561" cy="3845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822" y="1931316"/>
            <a:ext cx="256374" cy="25637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75" y="2828624"/>
            <a:ext cx="120175" cy="16023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75" y="3381681"/>
            <a:ext cx="120175" cy="1602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9659" y="1610849"/>
            <a:ext cx="3572584" cy="268053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6033" y="1867223"/>
            <a:ext cx="384561" cy="38456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8781" y="1931316"/>
            <a:ext cx="232339" cy="25637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6033" y="2828624"/>
            <a:ext cx="120175" cy="16023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6033" y="3381681"/>
            <a:ext cx="120175" cy="16023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8617" y="1610849"/>
            <a:ext cx="3572584" cy="268053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4991" y="1867223"/>
            <a:ext cx="384561" cy="3845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7739" y="1931316"/>
            <a:ext cx="288421" cy="25637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94991" y="2828624"/>
            <a:ext cx="120175" cy="16023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4991" y="3381681"/>
            <a:ext cx="120175" cy="16023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701" y="5507906"/>
            <a:ext cx="11230501" cy="869393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72981" y="480701"/>
            <a:ext cx="18915899" cy="45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6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 &amp; CLEANING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72981" y="1001961"/>
            <a:ext cx="17303343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1: Transforming Raw Streams into Model-Ready Features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889297" y="1867223"/>
            <a:ext cx="452967" cy="384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2907615" y="1947340"/>
            <a:ext cx="1956816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737075" y="2444064"/>
            <a:ext cx="5435605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&amp; Missing Data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921343" y="2796578"/>
            <a:ext cx="2875568" cy="4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Moving average filters to remove high-frequency sensor jitter.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921343" y="3349634"/>
            <a:ext cx="2875568" cy="685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Forward-fill and linear interpolation for missing sensor packets.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4698226" y="1867223"/>
            <a:ext cx="452967" cy="384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576339" y="1947340"/>
            <a:ext cx="2201418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4566033" y="2444064"/>
            <a:ext cx="4892045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Windowing Strategy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750302" y="2796578"/>
            <a:ext cx="2875568" cy="4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Sliding Windows: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Capturing temporal dependencies across sensor events.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4750302" y="3349634"/>
            <a:ext cx="2875568" cy="4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Fixed-length intervals for real-time inference compatibility.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8527184" y="1867223"/>
            <a:ext cx="452967" cy="384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10293135" y="1947340"/>
            <a:ext cx="2690622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4" name="Text 14"/>
          <p:cNvSpPr/>
          <p:nvPr/>
        </p:nvSpPr>
        <p:spPr>
          <a:xfrm>
            <a:off x="8394991" y="2444064"/>
            <a:ext cx="4892045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8579260" y="2796578"/>
            <a:ext cx="2875568" cy="4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Mean, variance, and RMS calculated per window.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8579260" y="3349634"/>
            <a:ext cx="2875568" cy="4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Rate of change and cross-correlation between streams.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72981" y="5718213"/>
            <a:ext cx="3533152" cy="1602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2"/>
              </a:lnSpc>
              <a:buNone/>
            </a:pPr>
            <a:r>
              <a:rPr lang="en-US" sz="1050" b="1" spc="100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672981" y="5910493"/>
            <a:ext cx="9457933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Time-Series Dataset</a:t>
            </a:r>
            <a:endParaRPr lang="en-US" sz="1800" dirty="0"/>
          </a:p>
        </p:txBody>
      </p:sp>
      <p:sp>
        <p:nvSpPr>
          <p:cNvPr id="39" name="Text 19"/>
          <p:cNvSpPr/>
          <p:nvPr/>
        </p:nvSpPr>
        <p:spPr>
          <a:xfrm>
            <a:off x="8518737" y="5700187"/>
            <a:ext cx="2282949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</a:t>
            </a:r>
            <a:endParaRPr lang="en-US" sz="1800" dirty="0"/>
          </a:p>
        </p:txBody>
      </p:sp>
      <p:sp>
        <p:nvSpPr>
          <p:cNvPr id="40" name="Text 20"/>
          <p:cNvSpPr/>
          <p:nvPr/>
        </p:nvSpPr>
        <p:spPr>
          <a:xfrm>
            <a:off x="8600267" y="6004631"/>
            <a:ext cx="2119889" cy="13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0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STREAMS</a:t>
            </a:r>
            <a:endParaRPr lang="en-US" sz="900" dirty="0"/>
          </a:p>
        </p:txBody>
      </p:sp>
      <p:sp>
        <p:nvSpPr>
          <p:cNvPr id="41" name="Text 21"/>
          <p:cNvSpPr/>
          <p:nvPr/>
        </p:nvSpPr>
        <p:spPr>
          <a:xfrm>
            <a:off x="9482482" y="5700187"/>
            <a:ext cx="2935221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</a:t>
            </a:r>
            <a:endParaRPr lang="en-US" sz="1800" dirty="0"/>
          </a:p>
        </p:txBody>
      </p:sp>
      <p:sp>
        <p:nvSpPr>
          <p:cNvPr id="42" name="Text 22"/>
          <p:cNvSpPr/>
          <p:nvPr/>
        </p:nvSpPr>
        <p:spPr>
          <a:xfrm>
            <a:off x="9808614" y="6004631"/>
            <a:ext cx="2282957" cy="13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0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MATRIX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2" y="1076632"/>
            <a:ext cx="707923" cy="2949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2" y="1460090"/>
            <a:ext cx="5564981" cy="205855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2" y="1637071"/>
            <a:ext cx="368710" cy="41295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23" y="1725561"/>
            <a:ext cx="191729" cy="20647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32" y="2788367"/>
            <a:ext cx="66368" cy="13319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32" y="2994844"/>
            <a:ext cx="66368" cy="1331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432" y="3201322"/>
            <a:ext cx="66368" cy="13319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4413" y="1460090"/>
            <a:ext cx="5565096" cy="205855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1394" y="1637071"/>
            <a:ext cx="390833" cy="41295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9884" y="1725561"/>
            <a:ext cx="213851" cy="20647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1394" y="2788367"/>
            <a:ext cx="66368" cy="13319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1394" y="2994844"/>
            <a:ext cx="66368" cy="13319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1394" y="3201322"/>
            <a:ext cx="66368" cy="13319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452" y="3695623"/>
            <a:ext cx="11307058" cy="188041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8426" y="4462539"/>
            <a:ext cx="2842406" cy="1474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6806" y="3931597"/>
            <a:ext cx="2506880" cy="101763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673" y="3931597"/>
            <a:ext cx="2506880" cy="101763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6540" y="3931597"/>
            <a:ext cx="2506995" cy="101763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8387" y="6086129"/>
            <a:ext cx="3451122" cy="32941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5368" y="6174620"/>
            <a:ext cx="117988" cy="152438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42452" y="442452"/>
            <a:ext cx="21968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 (EDA)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1268361" y="1017639"/>
            <a:ext cx="4202740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1050" b="1" spc="108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1: TASK 3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1106129" y="1725561"/>
            <a:ext cx="7086600" cy="23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Patterns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619432" y="2168013"/>
            <a:ext cx="5211020" cy="4952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baseline behaviors for multi-source IoT streams to distinguish normal operation from noise.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744793" y="2781223"/>
            <a:ext cx="7854301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Mean, Variance, and Kurtosis profiling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744793" y="2987700"/>
            <a:ext cx="7234224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 and Trend decomposition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744793" y="3194178"/>
            <a:ext cx="7647608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analysis per sensor type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6870213" y="1725561"/>
            <a:ext cx="7086600" cy="23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Analysis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6361394" y="2168013"/>
            <a:ext cx="5211135" cy="4952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inter-sensor dependencies to understand how failures propagate through the system.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486755" y="2781223"/>
            <a:ext cx="6614148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Inter-feature dependency mapping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6486755" y="2987700"/>
            <a:ext cx="9301145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Lagged correlation for stream synchronization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6486755" y="3194178"/>
            <a:ext cx="7234224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Redundancy detection in sensor data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678426" y="3931597"/>
            <a:ext cx="2842406" cy="47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8"/>
              </a:lnSpc>
              <a:buNone/>
            </a:pPr>
            <a:r>
              <a:rPr lang="en-US" sz="1800" b="1" spc="-46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ANOMALY PATTERNS</a:t>
            </a:r>
            <a:endParaRPr lang="en-US" sz="1800" dirty="0"/>
          </a:p>
        </p:txBody>
      </p:sp>
      <p:sp>
        <p:nvSpPr>
          <p:cNvPr id="36" name="Text 13"/>
          <p:cNvSpPr/>
          <p:nvPr/>
        </p:nvSpPr>
        <p:spPr>
          <a:xfrm>
            <a:off x="678426" y="4654268"/>
            <a:ext cx="284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"Defining what 'abnormal' looks like across time-series windows to inform model selection."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3874793" y="4049584"/>
            <a:ext cx="3543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Anomalies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3874793" y="4366675"/>
            <a:ext cx="3011805" cy="14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SPIKES &amp; OUTLIERS</a:t>
            </a:r>
            <a:endParaRPr lang="en-US" sz="900" dirty="0"/>
          </a:p>
        </p:txBody>
      </p:sp>
      <p:sp>
        <p:nvSpPr>
          <p:cNvPr id="39" name="Text 16"/>
          <p:cNvSpPr/>
          <p:nvPr/>
        </p:nvSpPr>
        <p:spPr>
          <a:xfrm>
            <a:off x="3874793" y="4595275"/>
            <a:ext cx="2270906" cy="23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Sudden value deviations exceeding statistical thresholds.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6499660" y="4049584"/>
            <a:ext cx="2362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499660" y="4366675"/>
            <a:ext cx="3011805" cy="14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ENVIRONMENT-BASED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6499660" y="4595275"/>
            <a:ext cx="2270906" cy="23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values that are abnormal in specific time windows.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9124527" y="4049584"/>
            <a:ext cx="2362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Collective</a:t>
            </a:r>
            <a:endParaRPr lang="en-US" sz="1200" dirty="0"/>
          </a:p>
        </p:txBody>
      </p:sp>
      <p:sp>
        <p:nvSpPr>
          <p:cNvPr id="44" name="Text 21"/>
          <p:cNvSpPr/>
          <p:nvPr/>
        </p:nvSpPr>
        <p:spPr>
          <a:xfrm>
            <a:off x="9124527" y="4366675"/>
            <a:ext cx="2480310" cy="14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SEQUENCE-BASED</a:t>
            </a:r>
            <a:endParaRPr lang="en-US" sz="900" dirty="0"/>
          </a:p>
        </p:txBody>
      </p:sp>
      <p:sp>
        <p:nvSpPr>
          <p:cNvPr id="45" name="Text 22"/>
          <p:cNvSpPr/>
          <p:nvPr/>
        </p:nvSpPr>
        <p:spPr>
          <a:xfrm>
            <a:off x="9124527" y="4595275"/>
            <a:ext cx="2271021" cy="23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9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group of data points indicating a gradual system failure.</a:t>
            </a:r>
            <a:endParaRPr lang="en-US" sz="900" dirty="0"/>
          </a:p>
        </p:txBody>
      </p:sp>
      <p:sp>
        <p:nvSpPr>
          <p:cNvPr id="46" name="Text 23"/>
          <p:cNvSpPr/>
          <p:nvPr/>
        </p:nvSpPr>
        <p:spPr>
          <a:xfrm>
            <a:off x="8681845" y="6177039"/>
            <a:ext cx="2480305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</a:t>
            </a:r>
            <a:endParaRPr lang="en-US" sz="1050" dirty="0"/>
          </a:p>
        </p:txBody>
      </p:sp>
      <p:sp>
        <p:nvSpPr>
          <p:cNvPr id="47" name="Text 24"/>
          <p:cNvSpPr/>
          <p:nvPr/>
        </p:nvSpPr>
        <p:spPr>
          <a:xfrm>
            <a:off x="9692110" y="6177039"/>
            <a:ext cx="5580687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Patterns EDA Report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63" y="1227437"/>
            <a:ext cx="592484" cy="2962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63" y="2777846"/>
            <a:ext cx="3609754" cy="301368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56" y="3014840"/>
            <a:ext cx="355490" cy="3554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338" y="3116442"/>
            <a:ext cx="155527" cy="1522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56" y="5206451"/>
            <a:ext cx="125903" cy="13330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356" y="5413821"/>
            <a:ext cx="125903" cy="13330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1110" y="2777846"/>
            <a:ext cx="3609754" cy="301368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8104" y="3014840"/>
            <a:ext cx="355491" cy="35549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9195" y="3116442"/>
            <a:ext cx="133309" cy="15228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8104" y="5206451"/>
            <a:ext cx="125903" cy="13330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8104" y="5413821"/>
            <a:ext cx="125903" cy="13330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7858" y="2777846"/>
            <a:ext cx="3609754" cy="301368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4852" y="3014840"/>
            <a:ext cx="355490" cy="35549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6318" y="3116442"/>
            <a:ext cx="192557" cy="15228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4852" y="5206451"/>
            <a:ext cx="125903" cy="13330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4852" y="5413821"/>
            <a:ext cx="125903" cy="13330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363" y="6087771"/>
            <a:ext cx="11303250" cy="32586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363" y="6295141"/>
            <a:ext cx="88873" cy="8887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32979" y="6295141"/>
            <a:ext cx="88872" cy="8887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17873" y="6295141"/>
            <a:ext cx="88872" cy="88872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44363" y="444363"/>
            <a:ext cx="11303250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6"/>
              </a:lnSpc>
              <a:buNone/>
            </a:pPr>
            <a:r>
              <a:rPr lang="en-US" sz="1050" b="1" spc="324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2: MODELING &amp; EVALUATION</a:t>
            </a:r>
            <a:endParaRPr lang="en-US" sz="1050" dirty="0"/>
          </a:p>
        </p:txBody>
      </p:sp>
      <p:sp>
        <p:nvSpPr>
          <p:cNvPr id="24" name="Text 1"/>
          <p:cNvSpPr/>
          <p:nvPr/>
        </p:nvSpPr>
        <p:spPr>
          <a:xfrm>
            <a:off x="444363" y="651732"/>
            <a:ext cx="16934679" cy="45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Selection Strategy</a:t>
            </a:r>
            <a:endParaRPr lang="en-US" sz="3600" dirty="0"/>
          </a:p>
        </p:txBody>
      </p:sp>
      <p:sp>
        <p:nvSpPr>
          <p:cNvPr id="25" name="Text 2"/>
          <p:cNvSpPr/>
          <p:nvPr/>
        </p:nvSpPr>
        <p:spPr>
          <a:xfrm>
            <a:off x="444363" y="1553303"/>
            <a:ext cx="6635819" cy="9283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7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objective is to evaluate unsupervised and semi-supervised approaches capable of detecting deviations in high-frequency IoT sensor streams.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681356" y="3548076"/>
            <a:ext cx="4233677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Autoencoders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681356" y="3903566"/>
            <a:ext cx="3135767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6"/>
              </a:lnSpc>
              <a:buNone/>
            </a:pPr>
            <a:r>
              <a:rPr lang="en-US" sz="1050" b="1" spc="54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681356" y="4110935"/>
            <a:ext cx="3135767" cy="45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networks trained to compress and reconstruct normal data patterns.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66508" y="5199045"/>
            <a:ext cx="7203140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reconstruction error = Anomaly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866508" y="5406415"/>
            <a:ext cx="6791532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non-linear relationships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4528104" y="3548076"/>
            <a:ext cx="5997708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Forests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4528104" y="3903566"/>
            <a:ext cx="3135767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6"/>
              </a:lnSpc>
              <a:buNone/>
            </a:pPr>
            <a:r>
              <a:rPr lang="en-US" sz="1050" b="1" spc="54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4528104" y="4110935"/>
            <a:ext cx="3135767" cy="68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Tree-based ensemble that isolates observations by randomly selecting features.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4713255" y="5199045"/>
            <a:ext cx="7203140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for high-dimensional data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4713255" y="5406415"/>
            <a:ext cx="7820552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inference for real-time streams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8374852" y="3548076"/>
            <a:ext cx="3528064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LSTM-Based</a:t>
            </a:r>
            <a:endParaRPr lang="en-US" sz="1800" dirty="0"/>
          </a:p>
        </p:txBody>
      </p:sp>
      <p:sp>
        <p:nvSpPr>
          <p:cNvPr id="37" name="Text 14"/>
          <p:cNvSpPr/>
          <p:nvPr/>
        </p:nvSpPr>
        <p:spPr>
          <a:xfrm>
            <a:off x="8374852" y="3903566"/>
            <a:ext cx="3135767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6"/>
              </a:lnSpc>
              <a:buNone/>
            </a:pPr>
            <a:r>
              <a:rPr lang="en-US" sz="1050" b="1" spc="54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8374852" y="4110935"/>
            <a:ext cx="3135767" cy="45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Recurrent Neural Networks designed to learn long-term temporal dependencies.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560003" y="5199045"/>
            <a:ext cx="6379924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time-series sequences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8560003" y="5406415"/>
            <a:ext cx="7408944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patterns across time windows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592484" y="6280328"/>
            <a:ext cx="2822442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PRECISION-RECALL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2081099" y="6280328"/>
            <a:ext cx="2998845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LATENCY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3665994" y="6280328"/>
            <a:ext cx="2822442" cy="11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3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FOOTPRINT</a:t>
            </a:r>
            <a:endParaRPr lang="en-US" sz="900" dirty="0"/>
          </a:p>
        </p:txBody>
      </p:sp>
      <p:sp>
        <p:nvSpPr>
          <p:cNvPr id="44" name="Text 21"/>
          <p:cNvSpPr/>
          <p:nvPr/>
        </p:nvSpPr>
        <p:spPr>
          <a:xfrm>
            <a:off x="9199931" y="6265516"/>
            <a:ext cx="7820552" cy="14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6"/>
              </a:lnSpc>
              <a:buNone/>
            </a:pPr>
            <a:r>
              <a:rPr lang="en-US" sz="1050" b="1" i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Real-Time Detection Simulation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11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38350"/>
            <a:ext cx="2647950" cy="12477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463" y="226695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850" y="2038350"/>
            <a:ext cx="2647950" cy="1247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26695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038350"/>
            <a:ext cx="2647950" cy="12477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1875" y="22669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2550" y="2038350"/>
            <a:ext cx="2647950" cy="12477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2225" y="22669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743325"/>
            <a:ext cx="3479750" cy="1866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971925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6050" y="3743325"/>
            <a:ext cx="3479750" cy="1866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4650" y="3971925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0601" y="3743325"/>
            <a:ext cx="3479899" cy="1866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971925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915025"/>
            <a:ext cx="11049000" cy="3714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6067425"/>
            <a:ext cx="762000" cy="219075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71500" y="571500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and Optimization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571500" y="1619250"/>
            <a:ext cx="1104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OPTIMIZATION WORKFLOW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641985" y="2686050"/>
            <a:ext cx="25069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 Feeding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352425" y="2914650"/>
            <a:ext cx="3086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Windowed &amp; Smoothed Streams</a:t>
            </a:r>
            <a:endParaRPr lang="en-US" sz="750" dirty="0"/>
          </a:p>
        </p:txBody>
      </p:sp>
      <p:sp>
        <p:nvSpPr>
          <p:cNvPr id="24" name="Text 4"/>
          <p:cNvSpPr/>
          <p:nvPr/>
        </p:nvSpPr>
        <p:spPr>
          <a:xfrm>
            <a:off x="3282315" y="2686050"/>
            <a:ext cx="2827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Model Training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2924175" y="2914650"/>
            <a:ext cx="3543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Autoencoders / Isolation Forest</a:t>
            </a:r>
            <a:endParaRPr lang="en-US" sz="750" dirty="0"/>
          </a:p>
        </p:txBody>
      </p:sp>
      <p:sp>
        <p:nvSpPr>
          <p:cNvPr id="26" name="Text 6"/>
          <p:cNvSpPr/>
          <p:nvPr/>
        </p:nvSpPr>
        <p:spPr>
          <a:xfrm>
            <a:off x="5922645" y="2686050"/>
            <a:ext cx="3147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Performance Eval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5953125" y="2914650"/>
            <a:ext cx="3086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&amp; Recall Analysis</a:t>
            </a:r>
            <a:endParaRPr lang="en-US" sz="750" dirty="0"/>
          </a:p>
        </p:txBody>
      </p:sp>
      <p:sp>
        <p:nvSpPr>
          <p:cNvPr id="28" name="Text 8"/>
          <p:cNvSpPr/>
          <p:nvPr/>
        </p:nvSpPr>
        <p:spPr>
          <a:xfrm>
            <a:off x="8322945" y="2686050"/>
            <a:ext cx="3947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Hyperparameter Search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8753475" y="2914650"/>
            <a:ext cx="3086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&amp; Random Search Tuning</a:t>
            </a:r>
            <a:endParaRPr lang="en-US" sz="750" dirty="0"/>
          </a:p>
        </p:txBody>
      </p:sp>
      <p:sp>
        <p:nvSpPr>
          <p:cNvPr id="30" name="Text 10"/>
          <p:cNvSpPr/>
          <p:nvPr/>
        </p:nvSpPr>
        <p:spPr>
          <a:xfrm>
            <a:off x="1133475" y="3971925"/>
            <a:ext cx="246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Autoencoders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800100" y="43910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952500" y="4391025"/>
            <a:ext cx="560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latent space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dimensions.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800100" y="46958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952500" y="4695825"/>
            <a:ext cx="6240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Tuning reconstruction error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800100" y="50006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952500" y="5000625"/>
            <a:ext cx="640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decay and dropout regularization.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4870400" y="3971925"/>
            <a:ext cx="3291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</a:t>
            </a:r>
            <a:endParaRPr lang="en-US" sz="1350" dirty="0"/>
          </a:p>
        </p:txBody>
      </p:sp>
      <p:sp>
        <p:nvSpPr>
          <p:cNvPr id="38" name="Text 18"/>
          <p:cNvSpPr/>
          <p:nvPr/>
        </p:nvSpPr>
        <p:spPr>
          <a:xfrm>
            <a:off x="4584650" y="43910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4737050" y="4391025"/>
            <a:ext cx="640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Adjusting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contamination ratio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parameter.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4584650" y="46958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4737050" y="4695825"/>
            <a:ext cx="640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number of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estimators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(trees).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4584650" y="50006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4737050" y="5000625"/>
            <a:ext cx="640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samples per tree for speed/accuracy.</a:t>
            </a:r>
            <a:endParaRPr lang="en-US" sz="1050" dirty="0"/>
          </a:p>
        </p:txBody>
      </p:sp>
      <p:sp>
        <p:nvSpPr>
          <p:cNvPr id="44" name="Text 24"/>
          <p:cNvSpPr/>
          <p:nvPr/>
        </p:nvSpPr>
        <p:spPr>
          <a:xfrm>
            <a:off x="8674001" y="39719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LSTM-Based</a:t>
            </a:r>
            <a:endParaRPr lang="en-US" sz="1350" dirty="0"/>
          </a:p>
        </p:txBody>
      </p:sp>
      <p:sp>
        <p:nvSpPr>
          <p:cNvPr id="45" name="Text 25"/>
          <p:cNvSpPr/>
          <p:nvPr/>
        </p:nvSpPr>
        <p:spPr>
          <a:xfrm>
            <a:off x="8369201" y="43910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46" name="Text 26"/>
          <p:cNvSpPr/>
          <p:nvPr/>
        </p:nvSpPr>
        <p:spPr>
          <a:xfrm>
            <a:off x="8521601" y="439102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size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optimization.</a:t>
            </a:r>
            <a:endParaRPr lang="en-US" sz="1050" dirty="0"/>
          </a:p>
        </p:txBody>
      </p:sp>
      <p:sp>
        <p:nvSpPr>
          <p:cNvPr id="47" name="Text 27"/>
          <p:cNvSpPr/>
          <p:nvPr/>
        </p:nvSpPr>
        <p:spPr>
          <a:xfrm>
            <a:off x="8369201" y="46958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48" name="Text 28"/>
          <p:cNvSpPr/>
          <p:nvPr/>
        </p:nvSpPr>
        <p:spPr>
          <a:xfrm>
            <a:off x="8521601" y="4695825"/>
            <a:ext cx="640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rate scheduling (Adam/RMSprop).</a:t>
            </a:r>
            <a:endParaRPr lang="en-US" sz="1050" dirty="0"/>
          </a:p>
        </p:txBody>
      </p:sp>
      <p:sp>
        <p:nvSpPr>
          <p:cNvPr id="49" name="Text 29"/>
          <p:cNvSpPr/>
          <p:nvPr/>
        </p:nvSpPr>
        <p:spPr>
          <a:xfrm>
            <a:off x="8369201" y="500062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8521601" y="5000625"/>
            <a:ext cx="560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layer and cell count tuning.</a:t>
            </a:r>
            <a:endParaRPr lang="en-US" sz="1050" dirty="0"/>
          </a:p>
        </p:txBody>
      </p:sp>
      <p:sp>
        <p:nvSpPr>
          <p:cNvPr id="51" name="Text 31"/>
          <p:cNvSpPr/>
          <p:nvPr/>
        </p:nvSpPr>
        <p:spPr>
          <a:xfrm>
            <a:off x="647700" y="6067425"/>
            <a:ext cx="914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750" dirty="0"/>
          </a:p>
        </p:txBody>
      </p:sp>
      <p:sp>
        <p:nvSpPr>
          <p:cNvPr id="52" name="Text 32"/>
          <p:cNvSpPr/>
          <p:nvPr/>
        </p:nvSpPr>
        <p:spPr>
          <a:xfrm>
            <a:off x="1447800" y="6100763"/>
            <a:ext cx="137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 simulation was used to validate optimized hyperparameters under production load.</a:t>
            </a:r>
            <a:endParaRPr lang="en-US" sz="900" dirty="0"/>
          </a:p>
        </p:txBody>
      </p:sp>
      <p:sp>
        <p:nvSpPr>
          <p:cNvPr id="53" name="Text 33"/>
          <p:cNvSpPr/>
          <p:nvPr/>
        </p:nvSpPr>
        <p:spPr>
          <a:xfrm>
            <a:off x="10125968" y="6081713"/>
            <a:ext cx="3680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-4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MLOps Integration Ready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1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287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47900"/>
            <a:ext cx="5334000" cy="1219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476500"/>
            <a:ext cx="419100" cy="495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5908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771900"/>
            <a:ext cx="5334000" cy="1219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000500"/>
            <a:ext cx="419100" cy="495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1148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62877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2171700"/>
            <a:ext cx="5334000" cy="2324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3619500"/>
            <a:ext cx="2286000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9700" y="3619500"/>
            <a:ext cx="22860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4648200"/>
            <a:ext cx="5334000" cy="1104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5057775"/>
            <a:ext cx="285750" cy="2857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Evaluation Metrics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1009650" y="1619250"/>
            <a:ext cx="740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36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CLASSIFICATION METRICS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371600" y="24765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371600" y="2781300"/>
            <a:ext cx="430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minimizing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Crucial for reducing alert fatigue in operations teams.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371600" y="40005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371600" y="4305300"/>
            <a:ext cx="430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minimizing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Negatives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Critical to ensure no system failure goes undetected.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6724650" y="1619250"/>
            <a:ext cx="576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36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VALIDATION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6591300" y="2476500"/>
            <a:ext cx="685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 Simulation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591300" y="28956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static metrics, the model is evaluated using a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simulation environment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mimic live IoT data flow.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591300" y="37338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LATENCY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591300" y="3952875"/>
            <a:ext cx="39090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response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9029700" y="37338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9029700" y="3952875"/>
            <a:ext cx="3771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10k+ events / sec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7029450" y="4876800"/>
            <a:ext cx="5349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Production Readiness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7029450" y="5143500"/>
            <a:ext cx="436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Validating the model's ability to operate under heavy load with high reliability.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5953375" y="6057900"/>
            <a:ext cx="5362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0000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Project Milestone 2: Evaluation Phase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800"/>
            <a:ext cx="914400" cy="38100"/>
          </a:xfrm>
          <a:prstGeom prst="rect">
            <a:avLst/>
          </a:prstGeom>
        </p:spPr>
      </p:pic>
      <p:pic>
        <p:nvPicPr>
          <p:cNvPr id="4" name="Image 2" descr="https://picture-search.skywork.ai/aippt/image/sheet/8b4ef70db7a934a3aea1d9b3f418c86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571500"/>
            <a:ext cx="1219200" cy="6637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43225"/>
            <a:ext cx="2590800" cy="2352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200400"/>
            <a:ext cx="361950" cy="285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11480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3815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648200"/>
            <a:ext cx="57150" cy="571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900" y="2943225"/>
            <a:ext cx="2590800" cy="23526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500" y="3200400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9500" y="4114800"/>
            <a:ext cx="57150" cy="571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9500" y="4381500"/>
            <a:ext cx="57150" cy="571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9500" y="4648200"/>
            <a:ext cx="57150" cy="571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2943225"/>
            <a:ext cx="2590800" cy="23526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200400"/>
            <a:ext cx="285750" cy="2857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4114800"/>
            <a:ext cx="57150" cy="571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4381500"/>
            <a:ext cx="57150" cy="571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4648200"/>
            <a:ext cx="57150" cy="571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29700" y="2943225"/>
            <a:ext cx="2590800" cy="23526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8300" y="3200400"/>
            <a:ext cx="247650" cy="2857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58300" y="4114800"/>
            <a:ext cx="57150" cy="571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4381500"/>
            <a:ext cx="57150" cy="571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8300" y="4648200"/>
            <a:ext cx="57150" cy="571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600700"/>
            <a:ext cx="11049000" cy="685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5829300"/>
            <a:ext cx="381000" cy="457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59817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86500" y="5829300"/>
            <a:ext cx="381000" cy="457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5981700"/>
            <a:ext cx="1524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571500" y="571500"/>
            <a:ext cx="706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6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</a:t>
            </a:r>
            <a:endParaRPr lang="en-US" sz="1050" dirty="0"/>
          </a:p>
        </p:txBody>
      </p:sp>
      <p:sp>
        <p:nvSpPr>
          <p:cNvPr id="31" name="Text 1"/>
          <p:cNvSpPr/>
          <p:nvPr/>
        </p:nvSpPr>
        <p:spPr>
          <a:xfrm>
            <a:off x="571500" y="838200"/>
            <a:ext cx="1591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 Architecture</a:t>
            </a:r>
            <a:endParaRPr lang="en-US" sz="3600" dirty="0"/>
          </a:p>
        </p:txBody>
      </p:sp>
      <p:sp>
        <p:nvSpPr>
          <p:cNvPr id="32" name="Text 2"/>
          <p:cNvSpPr/>
          <p:nvPr/>
        </p:nvSpPr>
        <p:spPr>
          <a:xfrm>
            <a:off x="571500" y="1943100"/>
            <a:ext cx="853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model development to a </a:t>
            </a:r>
            <a:pPr indent="0" marL="0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 inference pipeline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Azure, designed for high-throughput IoT telemetry and low-latency anomaly detection.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800100" y="3667125"/>
            <a:ext cx="36347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 Ingestion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933450" y="4048125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Event Hubs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933450" y="43148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Integration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933450" y="4581525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Entrypoint</a:t>
            </a:r>
            <a:endParaRPr lang="en-US" sz="1050" dirty="0"/>
          </a:p>
        </p:txBody>
      </p:sp>
      <p:sp>
        <p:nvSpPr>
          <p:cNvPr id="37" name="Text 7"/>
          <p:cNvSpPr/>
          <p:nvPr/>
        </p:nvSpPr>
        <p:spPr>
          <a:xfrm>
            <a:off x="3619500" y="3667125"/>
            <a:ext cx="4046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Stream Analytics</a:t>
            </a:r>
            <a:endParaRPr lang="en-US" sz="1350" dirty="0"/>
          </a:p>
        </p:txBody>
      </p:sp>
      <p:sp>
        <p:nvSpPr>
          <p:cNvPr id="38" name="Text 8"/>
          <p:cNvSpPr/>
          <p:nvPr/>
        </p:nvSpPr>
        <p:spPr>
          <a:xfrm>
            <a:off x="3752850" y="4048125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Filtering</a:t>
            </a:r>
            <a:endParaRPr lang="en-US" sz="1050" dirty="0"/>
          </a:p>
        </p:txBody>
      </p:sp>
      <p:sp>
        <p:nvSpPr>
          <p:cNvPr id="39" name="Text 9"/>
          <p:cNvSpPr/>
          <p:nvPr/>
        </p:nvSpPr>
        <p:spPr>
          <a:xfrm>
            <a:off x="3752850" y="4314825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Windowing Functions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3752850" y="4581525"/>
            <a:ext cx="2880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Aggregation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6438900" y="3667125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Azure Functions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6572250" y="4048125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Inference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6572250" y="43148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Containerized Models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6572250" y="4581525"/>
            <a:ext cx="3520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Service Integration</a:t>
            </a:r>
            <a:endParaRPr lang="en-US" sz="1050" dirty="0"/>
          </a:p>
        </p:txBody>
      </p:sp>
      <p:sp>
        <p:nvSpPr>
          <p:cNvPr id="45" name="Text 15"/>
          <p:cNvSpPr/>
          <p:nvPr/>
        </p:nvSpPr>
        <p:spPr>
          <a:xfrm>
            <a:off x="9258300" y="3667125"/>
            <a:ext cx="301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Integration</a:t>
            </a:r>
            <a:endParaRPr lang="en-US" sz="1350" dirty="0"/>
          </a:p>
        </p:txBody>
      </p:sp>
      <p:sp>
        <p:nvSpPr>
          <p:cNvPr id="46" name="Text 16"/>
          <p:cNvSpPr/>
          <p:nvPr/>
        </p:nvSpPr>
        <p:spPr>
          <a:xfrm>
            <a:off x="9391650" y="40481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Apps Alerts</a:t>
            </a:r>
            <a:endParaRPr lang="en-US" sz="1050" dirty="0"/>
          </a:p>
        </p:txBody>
      </p:sp>
      <p:sp>
        <p:nvSpPr>
          <p:cNvPr id="47" name="Text 17"/>
          <p:cNvSpPr/>
          <p:nvPr/>
        </p:nvSpPr>
        <p:spPr>
          <a:xfrm>
            <a:off x="9391650" y="4314825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9391650" y="45815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Lake Storage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1104900" y="5867400"/>
            <a:ext cx="2201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1104900" y="6096000"/>
            <a:ext cx="452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-18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HANDLING OF SENSOR VOLUME</a:t>
            </a:r>
            <a:endParaRPr lang="en-US" sz="900" dirty="0"/>
          </a:p>
        </p:txBody>
      </p:sp>
      <p:sp>
        <p:nvSpPr>
          <p:cNvPr id="51" name="Text 21"/>
          <p:cNvSpPr/>
          <p:nvPr/>
        </p:nvSpPr>
        <p:spPr>
          <a:xfrm>
            <a:off x="6819900" y="5867400"/>
            <a:ext cx="1965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52" name="Text 22"/>
          <p:cNvSpPr/>
          <p:nvPr/>
        </p:nvSpPr>
        <p:spPr>
          <a:xfrm>
            <a:off x="6819900" y="6096000"/>
            <a:ext cx="3977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-18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LOW-COST INFERENCE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4" y="1479861"/>
            <a:ext cx="5494343" cy="357152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16" y="1720492"/>
            <a:ext cx="466224" cy="44660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53" y="1810729"/>
            <a:ext cx="285750" cy="2406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16" y="2377647"/>
            <a:ext cx="150395" cy="1522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816" y="3027282"/>
            <a:ext cx="150395" cy="15227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16" y="3526522"/>
            <a:ext cx="150395" cy="1522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6316" y="1479861"/>
            <a:ext cx="5494461" cy="357152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948" y="1720492"/>
            <a:ext cx="466224" cy="44660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7185" y="1810729"/>
            <a:ext cx="285750" cy="24063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948" y="2377647"/>
            <a:ext cx="187993" cy="1522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948" y="3027282"/>
            <a:ext cx="135355" cy="15227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948" y="3526522"/>
            <a:ext cx="150395" cy="1522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184" y="5622884"/>
            <a:ext cx="2568578" cy="78393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0217" y="5780798"/>
            <a:ext cx="150395" cy="1522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0078" y="5938713"/>
            <a:ext cx="97757" cy="15227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8150" y="5622884"/>
            <a:ext cx="2568578" cy="783932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8383" y="5780798"/>
            <a:ext cx="187993" cy="1522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47044" y="5938713"/>
            <a:ext cx="97756" cy="15227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65116" y="5622884"/>
            <a:ext cx="2568578" cy="78393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74148" y="5780798"/>
            <a:ext cx="150395" cy="1522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54009" y="5938713"/>
            <a:ext cx="97757" cy="15227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72082" y="5622884"/>
            <a:ext cx="2568578" cy="783932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88634" y="5780798"/>
            <a:ext cx="135355" cy="152275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1184" y="451184"/>
            <a:ext cx="22933152" cy="45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1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CONTAINERIZATION &amp; REST API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451184" y="968519"/>
            <a:ext cx="14091901" cy="2105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3: Deployment &amp; Production Integration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78355" y="1823419"/>
            <a:ext cx="8686800" cy="24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5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Containerization Strategy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932447" y="2362607"/>
            <a:ext cx="5096264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Implementation: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32447" y="2576097"/>
            <a:ext cx="4772448" cy="3007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trained models (Autoencoders/LSTMs) with dependencies for environment parity.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932447" y="3012242"/>
            <a:ext cx="4169671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Integration: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932447" y="3225732"/>
            <a:ext cx="13783030" cy="1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Azure ML for managed container orchestration and scaling.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932447" y="3511482"/>
            <a:ext cx="2779781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Portability: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932447" y="3724972"/>
            <a:ext cx="14188413" cy="1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execution across dev, staging, and production environments.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7073487" y="1823419"/>
            <a:ext cx="7296912" cy="24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5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REST Service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6765178" y="2362607"/>
            <a:ext cx="4632968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Endpoints: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6765178" y="2576097"/>
            <a:ext cx="4734967" cy="3007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Exposing high-performance endpoints for real-time sensor stream ingestion.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6712540" y="3012242"/>
            <a:ext cx="5327913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Processing: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712540" y="3225732"/>
            <a:ext cx="13377647" cy="1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request handling to ensure sub-second anomaly detection.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6727580" y="3511482"/>
            <a:ext cx="3474726" cy="187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Authentication: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727580" y="3724972"/>
            <a:ext cx="14796488" cy="1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access via Azure Monitor and API keys for IoT gateway integration.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451184" y="5352173"/>
            <a:ext cx="11289593" cy="1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84"/>
              </a:lnSpc>
              <a:buNone/>
            </a:pPr>
            <a:r>
              <a:rPr lang="en-US" sz="1050" b="1" spc="106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INFERENCE WORKFLOW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571500" y="5993231"/>
            <a:ext cx="2327946" cy="15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8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SENSOR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504840" y="6143625"/>
            <a:ext cx="24612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Generation</a:t>
            </a:r>
            <a:endParaRPr lang="en-US" sz="750" dirty="0"/>
          </a:p>
        </p:txBody>
      </p:sp>
      <p:sp>
        <p:nvSpPr>
          <p:cNvPr id="45" name="Text 19"/>
          <p:cNvSpPr/>
          <p:nvPr/>
        </p:nvSpPr>
        <p:spPr>
          <a:xfrm>
            <a:off x="3478466" y="5993231"/>
            <a:ext cx="2327946" cy="15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8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3478466" y="6143625"/>
            <a:ext cx="2327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47" name="Text 21"/>
          <p:cNvSpPr/>
          <p:nvPr/>
        </p:nvSpPr>
        <p:spPr>
          <a:xfrm>
            <a:off x="6385432" y="5993231"/>
            <a:ext cx="2327946" cy="15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8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6385432" y="6143625"/>
            <a:ext cx="2327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Inference</a:t>
            </a:r>
            <a:endParaRPr lang="en-US" sz="750" dirty="0"/>
          </a:p>
        </p:txBody>
      </p:sp>
      <p:sp>
        <p:nvSpPr>
          <p:cNvPr id="49" name="Text 23"/>
          <p:cNvSpPr/>
          <p:nvPr/>
        </p:nvSpPr>
        <p:spPr>
          <a:xfrm>
            <a:off x="9240221" y="5993231"/>
            <a:ext cx="2432299" cy="15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8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SYSTEM</a:t>
            </a:r>
            <a:endParaRPr lang="en-US" sz="1050" dirty="0"/>
          </a:p>
        </p:txBody>
      </p:sp>
      <p:sp>
        <p:nvSpPr>
          <p:cNvPr id="50" name="Text 24"/>
          <p:cNvSpPr/>
          <p:nvPr/>
        </p:nvSpPr>
        <p:spPr>
          <a:xfrm>
            <a:off x="9292398" y="6143625"/>
            <a:ext cx="2327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Trigger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3" y="1465550"/>
            <a:ext cx="4402210" cy="79191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43" y="2473514"/>
            <a:ext cx="155695" cy="15245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43" y="2820816"/>
            <a:ext cx="155695" cy="15245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43" y="3168118"/>
            <a:ext cx="155695" cy="15245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43" y="5197252"/>
            <a:ext cx="1082452" cy="71174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468" y="5315877"/>
            <a:ext cx="845202" cy="474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616" y="1465550"/>
            <a:ext cx="6603489" cy="71174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553" y="1643487"/>
            <a:ext cx="355875" cy="3558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80020" y="1687972"/>
            <a:ext cx="289149" cy="26690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616" y="2295924"/>
            <a:ext cx="6603489" cy="71174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1553" y="2473861"/>
            <a:ext cx="355875" cy="3558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80020" y="2518346"/>
            <a:ext cx="289149" cy="26690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616" y="3126298"/>
            <a:ext cx="6603489" cy="86003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21553" y="3378376"/>
            <a:ext cx="355875" cy="3558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50363" y="3422860"/>
            <a:ext cx="318805" cy="26690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3616" y="4104953"/>
            <a:ext cx="6603489" cy="71174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21553" y="4282890"/>
            <a:ext cx="355875" cy="3558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80020" y="4327375"/>
            <a:ext cx="289149" cy="26690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843" y="6146251"/>
            <a:ext cx="11302261" cy="26690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843" y="6264876"/>
            <a:ext cx="133453" cy="13333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45920" y="6264876"/>
            <a:ext cx="133453" cy="133337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39941" y="6264876"/>
            <a:ext cx="148281" cy="133337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4843" y="444843"/>
            <a:ext cx="18326110" cy="45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3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Alerting System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444843" y="961394"/>
            <a:ext cx="12334854" cy="20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Loop: From Detection to Action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622781" y="1465550"/>
            <a:ext cx="8458191" cy="23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6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Integration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622781" y="1762112"/>
            <a:ext cx="4224273" cy="4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the Azure ecosystem to transform raw anomaly scores into actionable business intelligence.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9507" y="2435401"/>
            <a:ext cx="6813565" cy="2286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Zero-latency metric ingestion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689507" y="2782703"/>
            <a:ext cx="5168911" cy="2286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threshold logic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689507" y="3130005"/>
            <a:ext cx="7988317" cy="2286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 notification support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5458713" y="1643487"/>
            <a:ext cx="489478" cy="35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5855365" y="1643487"/>
            <a:ext cx="4663440" cy="20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350" b="1" spc="35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5855365" y="1851081"/>
            <a:ext cx="15487111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Stream Analytics identifies outliers in the 10ms-window sensor data.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5440178" y="2473861"/>
            <a:ext cx="489478" cy="35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5855365" y="2473861"/>
            <a:ext cx="4922932" cy="20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350" b="1" spc="35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MONITOR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5855365" y="2681455"/>
            <a:ext cx="16446490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are evaluated against dynamic thresholds. Triggers high-priority alerts.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5436471" y="3378376"/>
            <a:ext cx="489478" cy="35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14"/>
          <p:cNvSpPr/>
          <p:nvPr/>
        </p:nvSpPr>
        <p:spPr>
          <a:xfrm>
            <a:off x="5855365" y="3304235"/>
            <a:ext cx="5394999" cy="20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350" b="1" spc="35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LOGIC APPS</a:t>
            </a:r>
            <a:endParaRPr lang="en-US" sz="1350" dirty="0"/>
          </a:p>
        </p:txBody>
      </p:sp>
      <p:sp>
        <p:nvSpPr>
          <p:cNvPr id="40" name="Text 15"/>
          <p:cNvSpPr/>
          <p:nvPr/>
        </p:nvSpPr>
        <p:spPr>
          <a:xfrm>
            <a:off x="5855365" y="3511829"/>
            <a:ext cx="5394999" cy="296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notifications via Email, SMS, or custom Webhooks to maintenance teams.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5436471" y="4282890"/>
            <a:ext cx="489478" cy="35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5855365" y="4282890"/>
            <a:ext cx="5278807" cy="20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350" b="1" spc="35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UPDATE</a:t>
            </a:r>
            <a:endParaRPr lang="en-US" sz="1350" dirty="0"/>
          </a:p>
        </p:txBody>
      </p:sp>
      <p:sp>
        <p:nvSpPr>
          <p:cNvPr id="43" name="Text 18"/>
          <p:cNvSpPr/>
          <p:nvPr/>
        </p:nvSpPr>
        <p:spPr>
          <a:xfrm>
            <a:off x="5855365" y="4490484"/>
            <a:ext cx="16857652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Power BI or Grafana flags the anomalous sensor on the factory floor map.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637609" y="6264876"/>
            <a:ext cx="2466973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Alerts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1838685" y="6264876"/>
            <a:ext cx="3494879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Notifications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3447535" y="6264876"/>
            <a:ext cx="4111622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Integrations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840796" y="6264876"/>
            <a:ext cx="8977042" cy="14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8"/>
              </a:lnSpc>
              <a:buNone/>
            </a:pPr>
            <a:r>
              <a:rPr lang="en-US" sz="1050" b="1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3: Cloud Deployment &amp;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419878"/>
            <a:ext cx="1063471" cy="16795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78" y="1212943"/>
            <a:ext cx="559837" cy="279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78" y="2388600"/>
            <a:ext cx="3634784" cy="17971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12" y="2612535"/>
            <a:ext cx="286916" cy="28560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8596" y="2388600"/>
            <a:ext cx="3634784" cy="17971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531" y="2612535"/>
            <a:ext cx="251926" cy="28560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7314" y="2388600"/>
            <a:ext cx="3634783" cy="17971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1249" y="2612535"/>
            <a:ext cx="286917" cy="28560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878" y="5089813"/>
            <a:ext cx="11352220" cy="134831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4222" y="5537682"/>
            <a:ext cx="447869" cy="44787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61676" y="5685405"/>
            <a:ext cx="132961" cy="15231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68484" y="5831596"/>
            <a:ext cx="97972" cy="15231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2849" y="5537682"/>
            <a:ext cx="447869" cy="44787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9806" y="5685405"/>
            <a:ext cx="153955" cy="15231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47112" y="5831596"/>
            <a:ext cx="97971" cy="15231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1476" y="5537682"/>
            <a:ext cx="447870" cy="44787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08433" y="5685405"/>
            <a:ext cx="153955" cy="15231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5739" y="5831596"/>
            <a:ext cx="97971" cy="15231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0103" y="5537682"/>
            <a:ext cx="447869" cy="44787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69565" y="5685405"/>
            <a:ext cx="188945" cy="15231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03853" y="419878"/>
            <a:ext cx="170986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82"/>
              </a:lnSpc>
              <a:buNone/>
            </a:pPr>
            <a:r>
              <a:rPr lang="en-US" sz="900" b="1" spc="98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</a:t>
            </a:r>
            <a:endParaRPr lang="en-US" sz="900" dirty="0"/>
          </a:p>
        </p:txBody>
      </p:sp>
      <p:sp>
        <p:nvSpPr>
          <p:cNvPr id="24" name="Text 1"/>
          <p:cNvSpPr/>
          <p:nvPr/>
        </p:nvSpPr>
        <p:spPr>
          <a:xfrm>
            <a:off x="419878" y="643812"/>
            <a:ext cx="20162510" cy="4571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MLOps &amp; Experiment Tracking</a:t>
            </a:r>
            <a:endParaRPr lang="en-US" sz="3600" dirty="0"/>
          </a:p>
        </p:txBody>
      </p:sp>
      <p:sp>
        <p:nvSpPr>
          <p:cNvPr id="25" name="Text 2"/>
          <p:cNvSpPr/>
          <p:nvPr/>
        </p:nvSpPr>
        <p:spPr>
          <a:xfrm>
            <a:off x="419878" y="1520853"/>
            <a:ext cx="6270172" cy="587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3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</a:t>
            </a:r>
            <a:pPr indent="0" marL="0">
              <a:lnSpc>
                <a:spcPts val="1543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MLflow</a:t>
            </a:r>
            <a:pPr indent="0" marL="0">
              <a:lnSpc>
                <a:spcPts val="1543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the backbone for managing the machine learning lifecycle, ensuring every anomaly detection model is reproducible, versioned, and production-ready.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643812" y="3010107"/>
            <a:ext cx="5911845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3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Tracking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643812" y="3290025"/>
            <a:ext cx="318691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Logging hyperparameters (learning rate, window size)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643812" y="3625927"/>
            <a:ext cx="10817674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Capturing metrics (Precision, Recall, F1-Score)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643812" y="3821870"/>
            <a:ext cx="9583442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Storing artifacts (serialized model files)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4502531" y="3010107"/>
            <a:ext cx="4356096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3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Registry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4502531" y="3290025"/>
            <a:ext cx="9365637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Centralized version control for ML models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502531" y="3485968"/>
            <a:ext cx="9147831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Stage transitions (Staging → Production)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4502531" y="3681911"/>
            <a:ext cx="9147831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Collaborative model auditing and reviews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8361249" y="3010107"/>
            <a:ext cx="6222995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3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Management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8361249" y="3290025"/>
            <a:ext cx="8930026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Standardized environment (Conda/Docker)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8361249" y="3485968"/>
            <a:ext cx="8276609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Full lineage from data to deployment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8361249" y="3681911"/>
            <a:ext cx="9147831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documentation of training runs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587829" y="5257763"/>
            <a:ext cx="11016319" cy="11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82"/>
              </a:lnSpc>
              <a:buNone/>
            </a:pPr>
            <a:r>
              <a:rPr lang="en-US" sz="900" b="1" spc="9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MLFLOW INTEGRATION PIPELINE</a:t>
            </a:r>
            <a:endParaRPr lang="en-US" sz="900" dirty="0"/>
          </a:p>
        </p:txBody>
      </p:sp>
      <p:sp>
        <p:nvSpPr>
          <p:cNvPr id="39" name="Text 16"/>
          <p:cNvSpPr/>
          <p:nvPr/>
        </p:nvSpPr>
        <p:spPr>
          <a:xfrm>
            <a:off x="901364" y="6097519"/>
            <a:ext cx="2053586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82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Stream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3306611" y="6097519"/>
            <a:ext cx="2800344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82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Server</a:t>
            </a:r>
            <a:endParaRPr lang="en-US" sz="900" dirty="0"/>
          </a:p>
        </p:txBody>
      </p:sp>
      <p:sp>
        <p:nvSpPr>
          <p:cNvPr id="41" name="Text 18"/>
          <p:cNvSpPr/>
          <p:nvPr/>
        </p:nvSpPr>
        <p:spPr>
          <a:xfrm>
            <a:off x="6178583" y="6097519"/>
            <a:ext cx="2613655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82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Registry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8957211" y="6097519"/>
            <a:ext cx="2613655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82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API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" y="926244"/>
            <a:ext cx="646981" cy="3234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1" y="1282084"/>
            <a:ext cx="3503175" cy="16238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75" y="1494122"/>
            <a:ext cx="194094" cy="19055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75" y="1870053"/>
            <a:ext cx="153658" cy="15239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75" y="2195692"/>
            <a:ext cx="169833" cy="1523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075" y="2521331"/>
            <a:ext cx="129396" cy="1523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981" y="3164774"/>
            <a:ext cx="3503175" cy="16238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075" y="3376812"/>
            <a:ext cx="210269" cy="19055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075" y="3752743"/>
            <a:ext cx="153658" cy="1523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075" y="4078382"/>
            <a:ext cx="153658" cy="1523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075" y="4404021"/>
            <a:ext cx="153658" cy="15239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8345" y="1282084"/>
            <a:ext cx="7006604" cy="384309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37765" y="1476179"/>
            <a:ext cx="1213090" cy="19409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2440" y="1799669"/>
            <a:ext cx="6615382" cy="283054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8345" y="5319272"/>
            <a:ext cx="2249270" cy="64698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17012" y="5319272"/>
            <a:ext cx="2249271" cy="64698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5679" y="5319272"/>
            <a:ext cx="2249270" cy="646981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46981" y="404363"/>
            <a:ext cx="19385269" cy="4571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Dashboard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1132217" y="1476179"/>
            <a:ext cx="5115570" cy="2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3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Stack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059432" y="1832018"/>
            <a:ext cx="5600179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for live telemetry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1075606" y="2157657"/>
            <a:ext cx="6892528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for historical analysis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035170" y="2483296"/>
            <a:ext cx="6461745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InfluxDB / Azure Data Explorer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148392" y="3358868"/>
            <a:ext cx="4846329" cy="22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3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Features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059432" y="3714708"/>
            <a:ext cx="4092438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Anomaly Status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059432" y="4040347"/>
            <a:ext cx="5169396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Multi-sensor Correlation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059432" y="4365985"/>
            <a:ext cx="5169396" cy="22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History &amp; Severity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732440" y="1492353"/>
            <a:ext cx="6282271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74"/>
              </a:lnSpc>
              <a:buNone/>
            </a:pPr>
            <a:r>
              <a:rPr lang="en-US" sz="1050" b="1" spc="99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SENSOR STREAM: VIBRATION_01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10234811" y="1476179"/>
            <a:ext cx="1835423" cy="19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9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NORMAL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5173701" y="5448668"/>
            <a:ext cx="2261611" cy="12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9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SENSORS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5468886" y="5578064"/>
            <a:ext cx="1615442" cy="2587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endParaRPr lang="en-US" sz="1800" dirty="0"/>
          </a:p>
        </p:txBody>
      </p:sp>
      <p:sp>
        <p:nvSpPr>
          <p:cNvPr id="33" name="Text 13"/>
          <p:cNvSpPr/>
          <p:nvPr/>
        </p:nvSpPr>
        <p:spPr>
          <a:xfrm>
            <a:off x="7528106" y="5448668"/>
            <a:ext cx="2638546" cy="12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ANOMALIES (24H)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7920338" y="5578064"/>
            <a:ext cx="1076961" cy="2587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  <p:sp>
        <p:nvSpPr>
          <p:cNvPr id="35" name="Text 15"/>
          <p:cNvSpPr/>
          <p:nvPr/>
        </p:nvSpPr>
        <p:spPr>
          <a:xfrm>
            <a:off x="10157478" y="5448668"/>
            <a:ext cx="1130805" cy="12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9"/>
              </a:lnSpc>
              <a:buNone/>
            </a:pPr>
            <a:r>
              <a:rPr lang="en-US" sz="90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900" dirty="0"/>
          </a:p>
        </p:txBody>
      </p:sp>
      <p:sp>
        <p:nvSpPr>
          <p:cNvPr id="36" name="Text 16"/>
          <p:cNvSpPr/>
          <p:nvPr/>
        </p:nvSpPr>
        <p:spPr>
          <a:xfrm>
            <a:off x="10100866" y="5578064"/>
            <a:ext cx="1723138" cy="2587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1800" dirty="0"/>
          </a:p>
        </p:txBody>
      </p:sp>
      <p:sp>
        <p:nvSpPr>
          <p:cNvPr id="37" name="Text 17"/>
          <p:cNvSpPr/>
          <p:nvPr/>
        </p:nvSpPr>
        <p:spPr>
          <a:xfrm>
            <a:off x="5796240" y="6257394"/>
            <a:ext cx="5596309" cy="16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74"/>
              </a:lnSpc>
              <a:buNone/>
            </a:pPr>
            <a:r>
              <a:rPr lang="en-US" sz="1050" b="1" spc="-49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4: MLOPS &amp;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37" y="1042787"/>
            <a:ext cx="739739" cy="3082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37" y="1381834"/>
            <a:ext cx="2678063" cy="15184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72" y="1566769"/>
            <a:ext cx="285108" cy="2855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335" y="1381834"/>
            <a:ext cx="2678184" cy="151848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0270" y="1566769"/>
            <a:ext cx="246580" cy="2855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454" y="1381834"/>
            <a:ext cx="2678064" cy="15184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89" y="1566769"/>
            <a:ext cx="285108" cy="28559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1452" y="1381834"/>
            <a:ext cx="2678184" cy="151848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6387" y="1566769"/>
            <a:ext cx="354459" cy="28559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337" y="3270192"/>
            <a:ext cx="11267299" cy="209592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917" y="4022814"/>
            <a:ext cx="774535" cy="3082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917" y="4603384"/>
            <a:ext cx="996794" cy="3082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0099" y="3948286"/>
            <a:ext cx="5232957" cy="117125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5034" y="4356684"/>
            <a:ext cx="115584" cy="13340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5034" y="4572441"/>
            <a:ext cx="115584" cy="13340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5034" y="4788199"/>
            <a:ext cx="115584" cy="133403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62337" y="462337"/>
            <a:ext cx="19667209" cy="45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Retraining Pipeline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647272" y="1975648"/>
            <a:ext cx="5274729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9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Drift Detection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47272" y="2253050"/>
            <a:ext cx="2308194" cy="46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input feature distributions and prediction confidence.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3510270" y="1975648"/>
            <a:ext cx="4709579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9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Trigger Logic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3510270" y="2253050"/>
            <a:ext cx="2308314" cy="46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via Azure Monitor when drift metrics exceed thresholds.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6373389" y="1975648"/>
            <a:ext cx="4427004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9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Auto-Retrain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73389" y="2253050"/>
            <a:ext cx="2308193" cy="46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Orchestrated MLflow pipeline fetches new data and re-optimizes parameters.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9236387" y="1975648"/>
            <a:ext cx="3861855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9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Deployment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9236387" y="2253050"/>
            <a:ext cx="2308314" cy="46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deployment and performance validation before production swap.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708917" y="3516772"/>
            <a:ext cx="10774139" cy="2465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42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Retraining Trigger Mechanism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>
            <a:off x="801384" y="4022814"/>
            <a:ext cx="545935" cy="30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1"/>
              </a:lnSpc>
              <a:buNone/>
            </a:pPr>
            <a:r>
              <a:rPr lang="en-US" sz="9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1606742" y="3948286"/>
            <a:ext cx="4335132" cy="45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change in sensor input distributions (PSI, Temp, Vibration).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01384" y="4603384"/>
            <a:ext cx="768194" cy="30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1"/>
              </a:lnSpc>
              <a:buNone/>
            </a:pPr>
            <a:r>
              <a:rPr lang="en-US" sz="9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1829001" y="4528856"/>
            <a:ext cx="4112873" cy="45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in model precision/recall against ground truth labels.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435034" y="4133221"/>
            <a:ext cx="4863087" cy="15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b="1" spc="104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INTEGRATION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6612263" y="4348978"/>
            <a:ext cx="6527499" cy="15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Azure Machine Learning Pipelines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612263" y="4564736"/>
            <a:ext cx="5340681" cy="15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MLflow Experiment Tracking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6612263" y="4780493"/>
            <a:ext cx="5340681" cy="15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Model Versioning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8842678" y="6241550"/>
            <a:ext cx="6263762" cy="15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13"/>
              </a:lnSpc>
              <a:buNone/>
            </a:pPr>
            <a:r>
              <a:rPr lang="en-US" sz="1050" b="1" spc="104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4: MLOPS &amp;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23975"/>
            <a:ext cx="5181600" cy="17668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552575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1647825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2181225"/>
            <a:ext cx="10477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2524125"/>
            <a:ext cx="10477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323975"/>
            <a:ext cx="5181600" cy="17668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52575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350" y="16478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181225"/>
            <a:ext cx="13335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524125"/>
            <a:ext cx="13335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395663"/>
            <a:ext cx="5181600" cy="176688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" y="3624263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0138" y="3719512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" y="4252913"/>
            <a:ext cx="171450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00" y="4595813"/>
            <a:ext cx="171450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3395663"/>
            <a:ext cx="5181600" cy="176688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624263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6538" y="3719512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4252913"/>
            <a:ext cx="152400" cy="190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595813"/>
            <a:ext cx="133350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5467350"/>
            <a:ext cx="10668000" cy="914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77400" y="5695950"/>
            <a:ext cx="1524000" cy="457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762000" y="47625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5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3571875" y="638175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Final Documentation Overview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600200" y="16478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Preprocessing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1285875" y="2162175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Pipeline Documentation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285875" y="2505075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Patterns EDA Report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7086600" y="16478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&amp; Evaluation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6800850" y="2162175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 &amp; Metrics Report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6800850" y="2505075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Optimization Log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1600200" y="3719512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MLOps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1352550" y="4233863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MLOps Pipeline Documentation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1352550" y="4576763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Deployment &amp; API Specs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086600" y="3719512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Deliverables</a:t>
            </a:r>
            <a:endParaRPr lang="en-US" sz="1500" dirty="0"/>
          </a:p>
        </p:txBody>
      </p:sp>
      <p:sp>
        <p:nvSpPr>
          <p:cNvPr id="37" name="Text 12"/>
          <p:cNvSpPr/>
          <p:nvPr/>
        </p:nvSpPr>
        <p:spPr>
          <a:xfrm>
            <a:off x="6819900" y="423386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Project Final Report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800850" y="4576763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 Proposal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990600" y="5695950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STATUS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990600" y="5886450"/>
            <a:ext cx="1028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Project Knowledge Base Complete</a:t>
            </a:r>
            <a:endParaRPr lang="en-US" sz="1500" dirty="0"/>
          </a:p>
        </p:txBody>
      </p:sp>
      <p:sp>
        <p:nvSpPr>
          <p:cNvPr id="41" name="Text 16"/>
          <p:cNvSpPr/>
          <p:nvPr/>
        </p:nvSpPr>
        <p:spPr>
          <a:xfrm>
            <a:off x="8311515" y="5695950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0" dirty="0"/>
          </a:p>
        </p:txBody>
      </p:sp>
      <p:sp>
        <p:nvSpPr>
          <p:cNvPr id="42" name="Text 17"/>
          <p:cNvSpPr/>
          <p:nvPr/>
        </p:nvSpPr>
        <p:spPr>
          <a:xfrm>
            <a:off x="8585835" y="6000750"/>
            <a:ext cx="109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9182100" y="569595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</a:t>
            </a:r>
            <a:endParaRPr lang="en-US" sz="1800" dirty="0"/>
          </a:p>
        </p:txBody>
      </p:sp>
      <p:sp>
        <p:nvSpPr>
          <p:cNvPr id="44" name="Text 19"/>
          <p:cNvSpPr/>
          <p:nvPr/>
        </p:nvSpPr>
        <p:spPr>
          <a:xfrm>
            <a:off x="9730740" y="6000750"/>
            <a:ext cx="1645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2647950" cy="1409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287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675" y="1600200"/>
            <a:ext cx="676275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850" y="1409700"/>
            <a:ext cx="2647950" cy="1409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350" y="1628775"/>
            <a:ext cx="361950" cy="285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600200"/>
            <a:ext cx="7048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409700"/>
            <a:ext cx="2647950" cy="1409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162877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1600200"/>
            <a:ext cx="70485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2550" y="1409700"/>
            <a:ext cx="2647950" cy="1409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3050" y="1628775"/>
            <a:ext cx="247650" cy="285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5150" y="1600200"/>
            <a:ext cx="70485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124200"/>
            <a:ext cx="7289750" cy="3467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7750" y="3390900"/>
            <a:ext cx="114300" cy="114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695700"/>
            <a:ext cx="6829425" cy="2667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9850" y="3124200"/>
            <a:ext cx="3530501" cy="34671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450" y="3695700"/>
            <a:ext cx="3073301" cy="419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8450" y="4267200"/>
            <a:ext cx="3073301" cy="4191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18450" y="4838700"/>
            <a:ext cx="3073301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5562600"/>
            <a:ext cx="3073301" cy="4572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03494" y="5715000"/>
            <a:ext cx="1903214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71500" y="381000"/>
            <a:ext cx="12755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System Demonstration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571500" y="838200"/>
            <a:ext cx="14813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walkthrough of the integrated data pipeline and real-time response.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2428875" y="1600200"/>
            <a:ext cx="9916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900" dirty="0"/>
          </a:p>
        </p:txBody>
      </p:sp>
      <p:sp>
        <p:nvSpPr>
          <p:cNvPr id="27" name="Text 3"/>
          <p:cNvSpPr/>
          <p:nvPr/>
        </p:nvSpPr>
        <p:spPr>
          <a:xfrm>
            <a:off x="76200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762000" y="232410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Event Hubs captures raw sensor streams.</a:t>
            </a:r>
            <a:endParaRPr lang="en-US" sz="900" dirty="0"/>
          </a:p>
        </p:txBody>
      </p:sp>
      <p:sp>
        <p:nvSpPr>
          <p:cNvPr id="29" name="Text 5"/>
          <p:cNvSpPr/>
          <p:nvPr/>
        </p:nvSpPr>
        <p:spPr>
          <a:xfrm>
            <a:off x="5200650" y="1600200"/>
            <a:ext cx="1003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02</a:t>
            </a:r>
            <a:endParaRPr lang="en-US" sz="900" dirty="0"/>
          </a:p>
        </p:txBody>
      </p:sp>
      <p:sp>
        <p:nvSpPr>
          <p:cNvPr id="30" name="Text 6"/>
          <p:cNvSpPr/>
          <p:nvPr/>
        </p:nvSpPr>
        <p:spPr>
          <a:xfrm>
            <a:off x="356235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Processing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3562350" y="232410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Analytics applies windowing &amp; smoothing.</a:t>
            </a:r>
            <a:endParaRPr lang="en-US" sz="900" dirty="0"/>
          </a:p>
        </p:txBody>
      </p:sp>
      <p:sp>
        <p:nvSpPr>
          <p:cNvPr id="32" name="Text 8"/>
          <p:cNvSpPr/>
          <p:nvPr/>
        </p:nvSpPr>
        <p:spPr>
          <a:xfrm>
            <a:off x="8001000" y="1600200"/>
            <a:ext cx="1003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03</a:t>
            </a:r>
            <a:endParaRPr lang="en-US" sz="900" dirty="0"/>
          </a:p>
        </p:txBody>
      </p:sp>
      <p:sp>
        <p:nvSpPr>
          <p:cNvPr id="33" name="Text 9"/>
          <p:cNvSpPr/>
          <p:nvPr/>
        </p:nvSpPr>
        <p:spPr>
          <a:xfrm>
            <a:off x="6362700" y="20574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Inference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362700" y="2324100"/>
            <a:ext cx="5212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Containerized model detects anomalies.</a:t>
            </a:r>
            <a:endParaRPr lang="en-US" sz="900" dirty="0"/>
          </a:p>
        </p:txBody>
      </p:sp>
      <p:sp>
        <p:nvSpPr>
          <p:cNvPr id="35" name="Text 11"/>
          <p:cNvSpPr/>
          <p:nvPr/>
        </p:nvSpPr>
        <p:spPr>
          <a:xfrm>
            <a:off x="10801350" y="1600200"/>
            <a:ext cx="1003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04</a:t>
            </a:r>
            <a:endParaRPr lang="en-US" sz="900" dirty="0"/>
          </a:p>
        </p:txBody>
      </p:sp>
      <p:sp>
        <p:nvSpPr>
          <p:cNvPr id="36" name="Text 12"/>
          <p:cNvSpPr/>
          <p:nvPr/>
        </p:nvSpPr>
        <p:spPr>
          <a:xfrm>
            <a:off x="916305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&amp; Dashboard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9163050" y="232410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Apps triggers alerts; Power BI updates.</a:t>
            </a:r>
            <a:endParaRPr lang="en-US" sz="900" dirty="0"/>
          </a:p>
        </p:txBody>
      </p:sp>
      <p:sp>
        <p:nvSpPr>
          <p:cNvPr id="38" name="Text 14"/>
          <p:cNvSpPr/>
          <p:nvPr/>
        </p:nvSpPr>
        <p:spPr>
          <a:xfrm>
            <a:off x="800100" y="3352800"/>
            <a:ext cx="4640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ANOMALY DETECTION STREAM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6718250" y="3371850"/>
            <a:ext cx="1783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ACTIVE</a:t>
            </a:r>
            <a:endParaRPr lang="en-US" sz="900" dirty="0"/>
          </a:p>
        </p:txBody>
      </p:sp>
      <p:sp>
        <p:nvSpPr>
          <p:cNvPr id="40" name="Text 16"/>
          <p:cNvSpPr/>
          <p:nvPr/>
        </p:nvSpPr>
        <p:spPr>
          <a:xfrm>
            <a:off x="8318450" y="3352800"/>
            <a:ext cx="30733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ALERTS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8470850" y="3733800"/>
            <a:ext cx="3017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14:22:05 — Warning</a:t>
            </a:r>
            <a:endParaRPr lang="en-US" sz="900" dirty="0"/>
          </a:p>
        </p:txBody>
      </p:sp>
      <p:sp>
        <p:nvSpPr>
          <p:cNvPr id="42" name="Text 18"/>
          <p:cNvSpPr/>
          <p:nvPr/>
        </p:nvSpPr>
        <p:spPr>
          <a:xfrm>
            <a:off x="8470850" y="3886200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Spike Detected</a:t>
            </a:r>
            <a:endParaRPr lang="en-US" sz="1050" dirty="0"/>
          </a:p>
        </p:txBody>
      </p:sp>
      <p:sp>
        <p:nvSpPr>
          <p:cNvPr id="43" name="Text 19"/>
          <p:cNvSpPr/>
          <p:nvPr/>
        </p:nvSpPr>
        <p:spPr>
          <a:xfrm>
            <a:off x="8470850" y="4305300"/>
            <a:ext cx="3154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14:25:12 — CRITICAL</a:t>
            </a:r>
            <a:endParaRPr lang="en-US" sz="900" dirty="0"/>
          </a:p>
        </p:txBody>
      </p:sp>
      <p:sp>
        <p:nvSpPr>
          <p:cNvPr id="44" name="Text 20"/>
          <p:cNvSpPr/>
          <p:nvPr/>
        </p:nvSpPr>
        <p:spPr>
          <a:xfrm>
            <a:off x="8470850" y="4457700"/>
            <a:ext cx="43205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Anomalous Temperature Trend</a:t>
            </a:r>
            <a:endParaRPr lang="en-US" sz="1050" dirty="0"/>
          </a:p>
        </p:txBody>
      </p:sp>
      <p:sp>
        <p:nvSpPr>
          <p:cNvPr id="45" name="Text 21"/>
          <p:cNvSpPr/>
          <p:nvPr/>
        </p:nvSpPr>
        <p:spPr>
          <a:xfrm>
            <a:off x="8470850" y="4876800"/>
            <a:ext cx="29209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14:28:44 — Info</a:t>
            </a:r>
            <a:endParaRPr lang="en-US" sz="900" dirty="0"/>
          </a:p>
        </p:txBody>
      </p:sp>
      <p:sp>
        <p:nvSpPr>
          <p:cNvPr id="46" name="Text 22"/>
          <p:cNvSpPr/>
          <p:nvPr/>
        </p:nvSpPr>
        <p:spPr>
          <a:xfrm>
            <a:off x="8470850" y="5029200"/>
            <a:ext cx="5120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Self-Correction Initiated</a:t>
            </a:r>
            <a:endParaRPr lang="en-US" sz="1050" dirty="0"/>
          </a:p>
        </p:txBody>
      </p:sp>
      <p:sp>
        <p:nvSpPr>
          <p:cNvPr id="47" name="Text 23"/>
          <p:cNvSpPr/>
          <p:nvPr/>
        </p:nvSpPr>
        <p:spPr>
          <a:xfrm>
            <a:off x="8552081" y="5791200"/>
            <a:ext cx="2606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FULL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5" y="1011715"/>
            <a:ext cx="933855" cy="437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5" y="1901796"/>
            <a:ext cx="3616523" cy="37646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09" y="2135259"/>
            <a:ext cx="350196" cy="35019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62" y="2208217"/>
            <a:ext cx="189689" cy="20428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09" y="2704327"/>
            <a:ext cx="72957" cy="15229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09" y="3506746"/>
            <a:ext cx="72957" cy="15229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209" y="4309163"/>
            <a:ext cx="72957" cy="15229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7732" y="1901796"/>
            <a:ext cx="3616524" cy="376460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196" y="2135259"/>
            <a:ext cx="350196" cy="35019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1449" y="2208217"/>
            <a:ext cx="189689" cy="20428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1196" y="2704327"/>
            <a:ext cx="72957" cy="15229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1196" y="3506746"/>
            <a:ext cx="72957" cy="15229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196" y="4309163"/>
            <a:ext cx="72957" cy="15229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7720" y="1901796"/>
            <a:ext cx="3616523" cy="376460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1183" y="2135259"/>
            <a:ext cx="350196" cy="35019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1436" y="2208217"/>
            <a:ext cx="189690" cy="20428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71183" y="2704327"/>
            <a:ext cx="72958" cy="15229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71183" y="3506746"/>
            <a:ext cx="72958" cy="15229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71183" y="4309163"/>
            <a:ext cx="72958" cy="15229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7745" y="5958230"/>
            <a:ext cx="11316499" cy="462026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37745" y="437745"/>
            <a:ext cx="20055851" cy="45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4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 PROPOSAL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437745" y="1347319"/>
            <a:ext cx="37007784" cy="20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09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roadmap for scaling the system to enterprise-level data volumes and integrating state-of-the-art AI architectures.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38136" y="2193625"/>
            <a:ext cx="5013955" cy="23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Scaling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831715" y="2660553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AI Integration: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 models to IoT Edge devices to reduce latency and bandwidth usage.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31715" y="3462971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Multi-Region Clusters: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Geo-distributed Azure Stream Analytics for global scale.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831715" y="4265389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Path Expansion: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Azure Synapse for massive historical data trend analysis.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4988123" y="2193625"/>
            <a:ext cx="5372094" cy="23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Models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4681702" y="2660553"/>
            <a:ext cx="2989089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Utilize self-attention mechanisms for better long-term temporal dependencies.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4681702" y="3462971"/>
            <a:ext cx="2989089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Neural Nets (GNN):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 spatial relationships between sensors in complex machinery.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4681702" y="4265389"/>
            <a:ext cx="2989089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Learning: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 models across decentralized devices while maintaining data privacy.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8838111" y="2193625"/>
            <a:ext cx="6088374" cy="23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MLOps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8531690" y="2660553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AI (XAI):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SHAP/LIME to provide root-cause reasons for every detected anomaly.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8531690" y="3462971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Pipelines: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 recovery from sensor failures and data drift.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531690" y="4265389"/>
            <a:ext cx="2989090" cy="68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Synchronize real-time anomaly data with 3D virtual models of infrastructure.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554477" y="6074962"/>
            <a:ext cx="14246021" cy="22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2025: Towards Autonomous Infrastructure Monitoring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096681" y="6116228"/>
            <a:ext cx="2298068" cy="14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9"/>
              </a:lnSpc>
              <a:buNone/>
            </a:pPr>
            <a:r>
              <a:rPr lang="en-US" sz="1050" b="1" spc="110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9293981" y="6116228"/>
            <a:ext cx="2506983" cy="14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9"/>
              </a:lnSpc>
              <a:buNone/>
            </a:pPr>
            <a:r>
              <a:rPr lang="en-US" sz="1050" b="1" spc="110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10584873" y="6116228"/>
            <a:ext cx="2089153" cy="14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9"/>
              </a:lnSpc>
              <a:buNone/>
            </a:pPr>
            <a:r>
              <a:rPr lang="en-US" sz="1050" b="1" spc="110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36" y="1410891"/>
            <a:ext cx="5563031" cy="189605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9" y="1763038"/>
            <a:ext cx="336589" cy="33658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58" y="1833161"/>
            <a:ext cx="189331" cy="19634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160" y="1410891"/>
            <a:ext cx="5563031" cy="189605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553" y="1763038"/>
            <a:ext cx="336589" cy="33658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639" y="1833161"/>
            <a:ext cx="238417" cy="19634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736" y="3531335"/>
            <a:ext cx="5563031" cy="189616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29" y="3883592"/>
            <a:ext cx="336589" cy="33658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276" y="3953715"/>
            <a:ext cx="168294" cy="19634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160" y="3531335"/>
            <a:ext cx="5563031" cy="189616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2553" y="3883592"/>
            <a:ext cx="336589" cy="33658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6181" y="3953715"/>
            <a:ext cx="189331" cy="19634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0736" y="5707988"/>
            <a:ext cx="11350455" cy="72927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031" y="5946405"/>
            <a:ext cx="217380" cy="252442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20736" y="420736"/>
            <a:ext cx="19376136" cy="45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8" kern="0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KEY TAKEAWAYS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420736" y="934056"/>
            <a:ext cx="17388861" cy="19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6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Achievements in Industrial IoT Anomaly Detection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093914" y="1819136"/>
            <a:ext cx="8197596" cy="22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Intelligence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45129" y="2211823"/>
            <a:ext cx="5114246" cy="74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implemented a low-latency pipeline capable of processing multi-source IoT streams and detecting anomalies within milliseconds using optimized LSTM and Isolation Forest models.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6881338" y="1819136"/>
            <a:ext cx="8942832" cy="22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Scalability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432553" y="2211823"/>
            <a:ext cx="5114246" cy="74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Azure-based architecture (Event Hubs + Stream Analytics) ensures the system can scale horizontally to handle thousands of concurrent sensors without performance degradation.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093914" y="3939691"/>
            <a:ext cx="6707124" cy="22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Impact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645129" y="4332378"/>
            <a:ext cx="5114246" cy="74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alerting via Logic Apps and live Grafana dashboards provide stakeholders with immediate visibility, reducing potential downtime through proactive intervention.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881338" y="3939691"/>
            <a:ext cx="7824978" cy="22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8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Reliability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6432553" y="4332378"/>
            <a:ext cx="5114246" cy="74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MLOps integration with MLflow and automated retraining pipelines ensures the model remains accurate over time, accounting for data drift in dynamic industrial environments.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974706" y="5876283"/>
            <a:ext cx="7663973" cy="3926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46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production-ready solution bridging the gap between raw sensor data and actionable industrial insights."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8638679" y="5932380"/>
            <a:ext cx="2964218" cy="2804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104"/>
              </a:lnSpc>
              <a:buNone/>
            </a:pPr>
            <a:r>
              <a:rPr lang="en-US" sz="1050" b="1" spc="114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 FINAL CONCLUSION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09" y="998880"/>
            <a:ext cx="637213" cy="3186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09" y="1349347"/>
            <a:ext cx="5426886" cy="45209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799" y="2189796"/>
            <a:ext cx="1146983" cy="914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865" y="4519978"/>
            <a:ext cx="2548850" cy="50977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123" y="1365527"/>
            <a:ext cx="215059" cy="19054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7123" y="1763536"/>
            <a:ext cx="5426886" cy="54163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7123" y="2432609"/>
            <a:ext cx="5426886" cy="54163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7123" y="3101682"/>
            <a:ext cx="5426886" cy="54163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7123" y="3770755"/>
            <a:ext cx="5426886" cy="54163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7123" y="4439828"/>
            <a:ext cx="5426886" cy="54163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909" y="6125206"/>
            <a:ext cx="11236099" cy="25488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99820" y="6268578"/>
            <a:ext cx="95583" cy="9558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59123" y="6268578"/>
            <a:ext cx="95583" cy="9558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18426" y="6268578"/>
            <a:ext cx="95583" cy="95582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77909" y="477909"/>
            <a:ext cx="11809476" cy="4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and References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-909223" y="3311265"/>
            <a:ext cx="8201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19" name="Text 2"/>
          <p:cNvSpPr/>
          <p:nvPr/>
        </p:nvSpPr>
        <p:spPr>
          <a:xfrm>
            <a:off x="895003" y="4010208"/>
            <a:ext cx="4592574" cy="25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07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597764" y="1349347"/>
            <a:ext cx="820103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6"/>
              </a:lnSpc>
              <a:buNone/>
            </a:pPr>
            <a:r>
              <a:rPr lang="en-US" sz="1500" b="1" dirty="0">
                <a:solidFill>
                  <a:srgbClr val="8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References &amp; Documentation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414565" y="1890978"/>
            <a:ext cx="6633731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Architecture Center (2023)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6414565" y="2050281"/>
            <a:ext cx="13613702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"Real-time anomaly detection for streaming data on Azure." Microsoft Documentation.</a:t>
            </a:r>
            <a:endParaRPr lang="en-US" sz="900" dirty="0"/>
          </a:p>
        </p:txBody>
      </p:sp>
      <p:sp>
        <p:nvSpPr>
          <p:cNvPr id="23" name="Text 6"/>
          <p:cNvSpPr/>
          <p:nvPr/>
        </p:nvSpPr>
        <p:spPr>
          <a:xfrm>
            <a:off x="6414565" y="2560051"/>
            <a:ext cx="9312738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Chandola, V., Banerjee, A., &amp; Kumar, V. (2009)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6414565" y="2719354"/>
            <a:ext cx="9841230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"Anomaly detection: A survey." ACM Computing Surveys (CSUR).</a:t>
            </a:r>
            <a:endParaRPr lang="en-US" sz="900" dirty="0"/>
          </a:p>
        </p:txBody>
      </p:sp>
      <p:sp>
        <p:nvSpPr>
          <p:cNvPr id="25" name="Text 8"/>
          <p:cNvSpPr/>
          <p:nvPr/>
        </p:nvSpPr>
        <p:spPr>
          <a:xfrm>
            <a:off x="6414565" y="3229124"/>
            <a:ext cx="9121380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Liu, F. T., Ting, K. M., &amp; Zhou, Z. H. (2008)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6414565" y="3388427"/>
            <a:ext cx="11809476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"Isolation Forest." Eighth IEEE International Conference on Data Mining.</a:t>
            </a:r>
            <a:endParaRPr lang="en-US" sz="900" dirty="0"/>
          </a:p>
        </p:txBody>
      </p:sp>
      <p:sp>
        <p:nvSpPr>
          <p:cNvPr id="27" name="Text 10"/>
          <p:cNvSpPr/>
          <p:nvPr/>
        </p:nvSpPr>
        <p:spPr>
          <a:xfrm>
            <a:off x="6414565" y="3898198"/>
            <a:ext cx="5172000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MLflow Documentation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6414565" y="4057501"/>
            <a:ext cx="10825353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"Tracking and Managing the Machine Learning Lifecycle." mlflow.org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6414565" y="4567271"/>
            <a:ext cx="5932087" cy="15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4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 &amp; Event Hubs Guide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6414565" y="4726574"/>
            <a:ext cx="10497312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"Distributed Streaming Platforms for IoT." Technical Whitepaper.</a:t>
            </a:r>
            <a:endParaRPr lang="en-US" sz="900" dirty="0"/>
          </a:p>
        </p:txBody>
      </p:sp>
      <p:sp>
        <p:nvSpPr>
          <p:cNvPr id="31" name="Text 14"/>
          <p:cNvSpPr/>
          <p:nvPr/>
        </p:nvSpPr>
        <p:spPr>
          <a:xfrm>
            <a:off x="477909" y="6252648"/>
            <a:ext cx="7982331" cy="12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3"/>
              </a:lnSpc>
              <a:buNone/>
            </a:pPr>
            <a:r>
              <a:rPr lang="en-US" sz="900" b="1" spc="8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REAL-TIME ANOMALY DETECTION PROJECT |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2026-02-18T14:36:55Z</dcterms:created>
  <dcterms:modified xsi:type="dcterms:W3CDTF">2026-02-18T14:36:55Z</dcterms:modified>
</cp:coreProperties>
</file>